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7" r:id="rId13"/>
    <p:sldId id="268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6237" autoAdjust="0"/>
  </p:normalViewPr>
  <p:slideViewPr>
    <p:cSldViewPr>
      <p:cViewPr varScale="1">
        <p:scale>
          <a:sx n="88" d="100"/>
          <a:sy n="88" d="100"/>
        </p:scale>
        <p:origin x="-106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Fourth Industrial Revolution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Fourth Industrial Revolution (4IR/4.0)</a:t>
            </a:r>
            <a:r>
              <a:rPr lang="en-US" dirty="0" smtClean="0"/>
              <a:t> refers to the ongoing transformation of industries and societies through advanced digital technologies, automation, and artificial intelligence. </a:t>
            </a:r>
          </a:p>
          <a:p>
            <a:r>
              <a:rPr lang="en-US" dirty="0" smtClean="0"/>
              <a:t>4IR—is the next phase in the digitization of the manufacturing sector, driven by disruptive trends including the rise of data and connectivity, analytics, human-machine interaction, and improvements in robotics.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371601"/>
          <a:ext cx="8229600" cy="4300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05000"/>
                <a:gridCol w="4495800"/>
              </a:tblGrid>
              <a:tr h="677548">
                <a:tc>
                  <a:txBody>
                    <a:bodyPr/>
                    <a:lstStyle/>
                    <a:p>
                      <a:r>
                        <a:rPr lang="en-US" dirty="0" smtClean="0"/>
                        <a:t>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Driven by</a:t>
                      </a:r>
                      <a:endParaRPr lang="en-US" dirty="0"/>
                    </a:p>
                  </a:txBody>
                  <a:tcPr/>
                </a:tc>
              </a:tr>
              <a:tr h="617851">
                <a:tc>
                  <a:txBody>
                    <a:bodyPr/>
                    <a:lstStyle/>
                    <a:p>
                      <a:r>
                        <a:rPr lang="en-US" dirty="0" smtClean="0"/>
                        <a:t>1st 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(1760–1840)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Steam power, mechanization, and factories</a:t>
                      </a:r>
                      <a:endParaRPr lang="en-US" dirty="0"/>
                    </a:p>
                  </a:txBody>
                  <a:tcPr/>
                </a:tc>
              </a:tr>
              <a:tr h="821647">
                <a:tc>
                  <a:txBody>
                    <a:bodyPr/>
                    <a:lstStyle/>
                    <a:p>
                      <a:r>
                        <a:rPr lang="en-US" dirty="0" smtClean="0"/>
                        <a:t>2nd 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(1870–1914)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Electricity, mass production, and assembly lines</a:t>
                      </a:r>
                      <a:endParaRPr lang="en-US" dirty="0"/>
                    </a:p>
                  </a:txBody>
                  <a:tcPr/>
                </a:tc>
              </a:tr>
              <a:tr h="720643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r>
                        <a:rPr lang="en-US" baseline="30000" dirty="0" smtClean="0"/>
                        <a:t>rd</a:t>
                      </a:r>
                      <a:r>
                        <a:rPr lang="en-US" dirty="0" smtClean="0"/>
                        <a:t> 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(1950s–2000s)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Computers, automation, and the internet</a:t>
                      </a:r>
                      <a:endParaRPr lang="en-US" dirty="0"/>
                    </a:p>
                  </a:txBody>
                  <a:tcPr/>
                </a:tc>
              </a:tr>
              <a:tr h="1046121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(2000s–Present)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Artificial intelligence, </a:t>
                      </a:r>
                      <a:r>
                        <a:rPr lang="en-US" dirty="0" err="1" smtClean="0"/>
                        <a:t>IoT</a:t>
                      </a:r>
                      <a:r>
                        <a:rPr lang="en-US" dirty="0" smtClean="0"/>
                        <a:t>, robotics, and biotechnology,</a:t>
                      </a:r>
                      <a:r>
                        <a:rPr lang="en-ZA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ZA" sz="1800" dirty="0" smtClean="0">
                          <a:latin typeface="Constantia" pitchFamily="18" charset="0"/>
                          <a:cs typeface="Arial" panose="020B0604020202020204" pitchFamily="34" charset="0"/>
                        </a:rPr>
                        <a:t>augmented reality (AR); virtual reality (VR);  nanotechnology; autonomous vehicles; cloud computing; 3D printing</a:t>
                      </a:r>
                      <a:endParaRPr lang="en-US" dirty="0">
                        <a:latin typeface="Constant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b="1" dirty="0" smtClean="0"/>
              <a:t>1. Artificial Intelligence (AI) &amp; Machine Learning</a:t>
            </a:r>
          </a:p>
          <a:p>
            <a:r>
              <a:rPr lang="en-US" dirty="0" smtClean="0"/>
              <a:t>AI-powered systems automate decision-making, data analysis, and problem-solving.</a:t>
            </a:r>
          </a:p>
          <a:p>
            <a:r>
              <a:rPr lang="en-US" dirty="0" smtClean="0"/>
              <a:t>Examples: </a:t>
            </a:r>
            <a:r>
              <a:rPr lang="en-US" dirty="0" err="1" smtClean="0"/>
              <a:t>Chatbots</a:t>
            </a:r>
            <a:r>
              <a:rPr lang="en-US" dirty="0" smtClean="0"/>
              <a:t>, self-driving cars, AI-based healthcare diagnosis.</a:t>
            </a:r>
          </a:p>
          <a:p>
            <a:r>
              <a:rPr lang="en-US" b="1" dirty="0" smtClean="0"/>
              <a:t>2. Internet of Things (</a:t>
            </a:r>
            <a:r>
              <a:rPr lang="en-US" b="1" dirty="0" err="1" smtClean="0"/>
              <a:t>IoT</a:t>
            </a:r>
            <a:r>
              <a:rPr lang="en-US" b="1" dirty="0" smtClean="0"/>
              <a:t>)</a:t>
            </a:r>
          </a:p>
          <a:p>
            <a:r>
              <a:rPr lang="en-US" dirty="0" err="1" smtClean="0"/>
              <a:t>IoT</a:t>
            </a:r>
            <a:r>
              <a:rPr lang="en-US" dirty="0" smtClean="0"/>
              <a:t> connects physical objects to the Internet so that they can collect, exchange, and process data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Examples: Smart homes, industrial automation, smart cities.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3. Big Data &amp; Analytics</a:t>
            </a:r>
          </a:p>
          <a:p>
            <a:r>
              <a:rPr lang="en-US" dirty="0" smtClean="0"/>
              <a:t>Large-scale data collection and analysis drive insights for better decision-making.</a:t>
            </a:r>
          </a:p>
          <a:p>
            <a:r>
              <a:rPr lang="en-US" dirty="0" smtClean="0"/>
              <a:t>Examples: Predictive analytics, customer behavior tracking, fraud detection.</a:t>
            </a:r>
          </a:p>
          <a:p>
            <a:r>
              <a:rPr lang="en-US" b="1" dirty="0" smtClean="0"/>
              <a:t>4. Block chain Technology</a:t>
            </a:r>
          </a:p>
          <a:p>
            <a:r>
              <a:rPr lang="en-US" dirty="0" smtClean="0"/>
              <a:t>Secure and transparent decentralized ledger systems improve trust in transactions.</a:t>
            </a:r>
          </a:p>
          <a:p>
            <a:r>
              <a:rPr lang="en-US" dirty="0" smtClean="0"/>
              <a:t>Examples: </a:t>
            </a:r>
            <a:r>
              <a:rPr lang="en-US" dirty="0" err="1" smtClean="0"/>
              <a:t>Cryptocurrencies</a:t>
            </a:r>
            <a:r>
              <a:rPr lang="en-US" dirty="0" smtClean="0"/>
              <a:t>, supply chain management, digital identity verification.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5. 5G &amp; Advanced Connectivity</a:t>
            </a:r>
          </a:p>
          <a:p>
            <a:r>
              <a:rPr lang="en-US" dirty="0" smtClean="0"/>
              <a:t>High-speed, low-latency communication enables real-time data transfer.</a:t>
            </a:r>
          </a:p>
          <a:p>
            <a:r>
              <a:rPr lang="en-US" dirty="0" smtClean="0"/>
              <a:t>Examples: Smart cities, remote surgeries, autonomous vehicles.</a:t>
            </a:r>
          </a:p>
          <a:p>
            <a:r>
              <a:rPr lang="en-US" b="1" dirty="0" smtClean="0"/>
              <a:t>6. Robotics &amp; Automation</a:t>
            </a:r>
          </a:p>
          <a:p>
            <a:r>
              <a:rPr lang="en-US" dirty="0" smtClean="0"/>
              <a:t>Advanced robots assist in manufacturing, healthcare, logistics, and household tasks.</a:t>
            </a:r>
          </a:p>
          <a:p>
            <a:r>
              <a:rPr lang="en-US" dirty="0" smtClean="0"/>
              <a:t>Examples: Automated warehouses, robotic surgeries, self-checkout kiosks.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7. 3D Printing (Additive Manufacturing)</a:t>
            </a:r>
          </a:p>
          <a:p>
            <a:r>
              <a:rPr lang="en-US" dirty="0" smtClean="0"/>
              <a:t>Enables rapid prototyping, cost reduction, and customized production.</a:t>
            </a:r>
          </a:p>
          <a:p>
            <a:r>
              <a:rPr lang="en-US" dirty="0" smtClean="0"/>
              <a:t>Examples: Prosthetics, automotive parts, construction components.</a:t>
            </a:r>
          </a:p>
          <a:p>
            <a:r>
              <a:rPr lang="en-US" b="1" dirty="0" smtClean="0"/>
              <a:t>8. Augmented Reality (AR) &amp; Virtual Reality (VR)</a:t>
            </a:r>
          </a:p>
          <a:p>
            <a:r>
              <a:rPr lang="en-US" dirty="0" smtClean="0"/>
              <a:t>Enhances experiences in entertainment, education, and training.</a:t>
            </a:r>
          </a:p>
          <a:p>
            <a:r>
              <a:rPr lang="en-US" dirty="0" smtClean="0"/>
              <a:t>Examples: AR shopping experiences, VR-based learning, immersive gaming.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9. Biotechnology &amp; Genetic Engineering</a:t>
            </a:r>
          </a:p>
          <a:p>
            <a:r>
              <a:rPr lang="en-US" dirty="0" smtClean="0"/>
              <a:t>Advances in bioinformatics, synthetic biology, and gene editing reshape medicine.</a:t>
            </a:r>
          </a:p>
          <a:p>
            <a:r>
              <a:rPr lang="en-US" dirty="0" smtClean="0"/>
              <a:t>Examples: CRISPR gene editing, personalized medicine, lab-grown organs.</a:t>
            </a:r>
          </a:p>
          <a:p>
            <a:r>
              <a:rPr lang="en-US" b="1" dirty="0" smtClean="0"/>
              <a:t>10. Quantum Computing</a:t>
            </a:r>
          </a:p>
          <a:p>
            <a:r>
              <a:rPr lang="en-US" dirty="0" smtClean="0"/>
              <a:t>Super-powerful computers solve complex problems beyond classical computing capabilities.</a:t>
            </a:r>
          </a:p>
          <a:p>
            <a:r>
              <a:rPr lang="en-US" dirty="0" smtClean="0"/>
              <a:t>Examples: Drug discovery, </a:t>
            </a:r>
            <a:r>
              <a:rPr lang="en-US" dirty="0" err="1" smtClean="0"/>
              <a:t>cybersecurity</a:t>
            </a:r>
            <a:r>
              <a:rPr lang="en-US" dirty="0" smtClean="0"/>
              <a:t>, optimization problems.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Impact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Positive:</a:t>
            </a:r>
          </a:p>
          <a:p>
            <a:r>
              <a:rPr lang="en-US" dirty="0" smtClean="0"/>
              <a:t>New Employment </a:t>
            </a:r>
            <a:r>
              <a:rPr lang="en-US" dirty="0" smtClean="0"/>
              <a:t>Opportunities</a:t>
            </a:r>
          </a:p>
          <a:p>
            <a:r>
              <a:rPr lang="en-US" dirty="0" smtClean="0"/>
              <a:t>Increased </a:t>
            </a:r>
            <a:r>
              <a:rPr lang="en-US" dirty="0" smtClean="0"/>
              <a:t>Productivity</a:t>
            </a:r>
          </a:p>
          <a:p>
            <a:r>
              <a:rPr lang="en-US" dirty="0" smtClean="0"/>
              <a:t>Expansion of Digital </a:t>
            </a:r>
            <a:r>
              <a:rPr lang="en-US" dirty="0" smtClean="0"/>
              <a:t>Entrepreneurship</a:t>
            </a:r>
          </a:p>
          <a:p>
            <a:r>
              <a:rPr lang="en-US" dirty="0" smtClean="0"/>
              <a:t>Social </a:t>
            </a:r>
            <a:r>
              <a:rPr lang="en-US" dirty="0" smtClean="0"/>
              <a:t>Interactions &amp; Communication</a:t>
            </a:r>
          </a:p>
          <a:p>
            <a:r>
              <a:rPr lang="en-US" dirty="0" smtClean="0"/>
              <a:t>Better Access to Education</a:t>
            </a:r>
          </a:p>
          <a:p>
            <a:r>
              <a:rPr lang="en-US" dirty="0" smtClean="0"/>
              <a:t>Improved Healthcare &amp; Well-being</a:t>
            </a:r>
          </a:p>
          <a:p>
            <a:r>
              <a:rPr lang="en-US" dirty="0" smtClean="0"/>
              <a:t>Smart </a:t>
            </a:r>
            <a:r>
              <a:rPr lang="en-US" dirty="0" smtClean="0"/>
              <a:t>Agriculture</a:t>
            </a:r>
          </a:p>
          <a:p>
            <a:r>
              <a:rPr lang="en-US" dirty="0" smtClean="0"/>
              <a:t>Better Government </a:t>
            </a:r>
            <a:r>
              <a:rPr lang="en-US" dirty="0" smtClean="0"/>
              <a:t>Services</a:t>
            </a:r>
          </a:p>
          <a:p>
            <a:r>
              <a:rPr lang="en-US" dirty="0" smtClean="0"/>
              <a:t>Better </a:t>
            </a:r>
            <a:r>
              <a:rPr lang="en-US" dirty="0" smtClean="0"/>
              <a:t>Quality of Life</a:t>
            </a:r>
          </a:p>
          <a:p>
            <a:r>
              <a:rPr lang="en-US" dirty="0" smtClean="0"/>
              <a:t>Enhanced Security and Safety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/>
              <a:t>Negative:</a:t>
            </a:r>
          </a:p>
          <a:p>
            <a:r>
              <a:rPr lang="en-US" dirty="0" smtClean="0"/>
              <a:t>Job </a:t>
            </a:r>
            <a:r>
              <a:rPr lang="en-US" dirty="0" smtClean="0"/>
              <a:t>Displacement</a:t>
            </a:r>
          </a:p>
          <a:p>
            <a:r>
              <a:rPr lang="en-US" dirty="0" smtClean="0"/>
              <a:t>Gender </a:t>
            </a:r>
            <a:r>
              <a:rPr lang="en-US" dirty="0" smtClean="0"/>
              <a:t>Inequality</a:t>
            </a:r>
          </a:p>
          <a:p>
            <a:r>
              <a:rPr lang="en-US" dirty="0" smtClean="0"/>
              <a:t>Increased Income </a:t>
            </a:r>
            <a:r>
              <a:rPr lang="en-US" dirty="0" smtClean="0"/>
              <a:t>Inequality</a:t>
            </a:r>
          </a:p>
          <a:p>
            <a:r>
              <a:rPr lang="en-US" dirty="0" smtClean="0"/>
              <a:t>Cybercrime</a:t>
            </a:r>
          </a:p>
          <a:p>
            <a:r>
              <a:rPr lang="en-US" dirty="0" smtClean="0"/>
              <a:t>Social Isolation and Changing Social </a:t>
            </a:r>
            <a:r>
              <a:rPr lang="en-US" dirty="0" smtClean="0"/>
              <a:t>Relationships</a:t>
            </a:r>
          </a:p>
          <a:p>
            <a:r>
              <a:rPr lang="en-US" dirty="0" smtClean="0"/>
              <a:t>Misinformation and AI-generated </a:t>
            </a:r>
            <a:r>
              <a:rPr lang="en-US" dirty="0" smtClean="0"/>
              <a:t>Content</a:t>
            </a:r>
          </a:p>
          <a:p>
            <a:r>
              <a:rPr lang="en-US" dirty="0" smtClean="0"/>
              <a:t>Pressure on Traditional </a:t>
            </a:r>
            <a:r>
              <a:rPr lang="en-US" dirty="0" smtClean="0"/>
              <a:t>Occupations</a:t>
            </a:r>
          </a:p>
          <a:p>
            <a:r>
              <a:rPr lang="en-US" dirty="0" smtClean="0"/>
              <a:t>Weakening of Family </a:t>
            </a:r>
            <a:r>
              <a:rPr lang="en-US" dirty="0" smtClean="0"/>
              <a:t>Bonding</a:t>
            </a:r>
          </a:p>
          <a:p>
            <a:r>
              <a:rPr lang="en-US" dirty="0" smtClean="0"/>
              <a:t>Digital </a:t>
            </a:r>
            <a:r>
              <a:rPr lang="en-US" dirty="0" smtClean="0"/>
              <a:t>Addiction</a:t>
            </a:r>
          </a:p>
          <a:p>
            <a:r>
              <a:rPr lang="en-US" dirty="0" smtClean="0"/>
              <a:t>Generation </a:t>
            </a:r>
            <a:r>
              <a:rPr lang="en-US" dirty="0" smtClean="0"/>
              <a:t>Gap</a:t>
            </a:r>
          </a:p>
          <a:p>
            <a:r>
              <a:rPr lang="en-US" dirty="0" smtClean="0"/>
              <a:t>Decline in Physical Social </a:t>
            </a:r>
            <a:r>
              <a:rPr lang="en-US" dirty="0" smtClean="0"/>
              <a:t>Activities</a:t>
            </a:r>
          </a:p>
          <a:p>
            <a:r>
              <a:rPr lang="en-US" dirty="0" smtClean="0"/>
              <a:t>Psychological Pressure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Challenges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 smtClean="0"/>
              <a:t>Skills Gap </a:t>
            </a:r>
            <a:endParaRPr lang="en-US" dirty="0" smtClean="0"/>
          </a:p>
          <a:p>
            <a:r>
              <a:rPr lang="en-US" dirty="0" smtClean="0"/>
              <a:t>Weak </a:t>
            </a:r>
            <a:r>
              <a:rPr lang="en-US" dirty="0" smtClean="0"/>
              <a:t>Digital Infrastructure </a:t>
            </a:r>
            <a:endParaRPr lang="en-US" dirty="0" smtClean="0"/>
          </a:p>
          <a:p>
            <a:r>
              <a:rPr lang="en-US" dirty="0" smtClean="0"/>
              <a:t>Limited Capacity of SMEs </a:t>
            </a:r>
            <a:endParaRPr lang="en-US" dirty="0" smtClean="0"/>
          </a:p>
          <a:p>
            <a:r>
              <a:rPr lang="en-US" dirty="0" smtClean="0"/>
              <a:t>Policy </a:t>
            </a:r>
            <a:r>
              <a:rPr lang="en-US" dirty="0" smtClean="0"/>
              <a:t>and Regulatory Gaps</a:t>
            </a:r>
          </a:p>
          <a:p>
            <a:r>
              <a:rPr lang="en-US" dirty="0" smtClean="0"/>
              <a:t>Education System Not Fully Aligned with </a:t>
            </a:r>
            <a:r>
              <a:rPr lang="en-US" dirty="0" smtClean="0"/>
              <a:t>Industry</a:t>
            </a:r>
          </a:p>
          <a:p>
            <a:r>
              <a:rPr lang="en-US" dirty="0" smtClean="0"/>
              <a:t>Global </a:t>
            </a:r>
            <a:r>
              <a:rPr lang="en-US" dirty="0" smtClean="0"/>
              <a:t>Competitiveness</a:t>
            </a:r>
          </a:p>
          <a:p>
            <a:r>
              <a:rPr lang="en-US" dirty="0" smtClean="0"/>
              <a:t>Limited Access to Technology</a:t>
            </a:r>
          </a:p>
          <a:p>
            <a:r>
              <a:rPr lang="en-US" dirty="0" err="1" smtClean="0"/>
              <a:t>Cybersecurity</a:t>
            </a:r>
            <a:r>
              <a:rPr lang="en-US" dirty="0" smtClean="0"/>
              <a:t> and Data Privacy Risks</a:t>
            </a:r>
          </a:p>
          <a:p>
            <a:r>
              <a:rPr lang="en-US" dirty="0" smtClean="0"/>
              <a:t>Language barriers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Informal Sector at Risk</a:t>
            </a:r>
          </a:p>
          <a:p>
            <a:r>
              <a:rPr lang="en-US" dirty="0" smtClean="0"/>
              <a:t>Skill Mismatch Between Education and Industry Needs</a:t>
            </a:r>
          </a:p>
          <a:p>
            <a:r>
              <a:rPr lang="en-US" dirty="0" smtClean="0"/>
              <a:t>Digital </a:t>
            </a:r>
            <a:r>
              <a:rPr lang="en-US" dirty="0" smtClean="0"/>
              <a:t>Divide </a:t>
            </a:r>
            <a:endParaRPr lang="en-US" dirty="0" smtClean="0"/>
          </a:p>
          <a:p>
            <a:r>
              <a:rPr lang="en-US" dirty="0" smtClean="0"/>
              <a:t>Gender Inequality</a:t>
            </a:r>
          </a:p>
          <a:p>
            <a:r>
              <a:rPr lang="en-US" dirty="0" smtClean="0"/>
              <a:t>Dependence on Low-Cost </a:t>
            </a:r>
            <a:r>
              <a:rPr lang="en-US" dirty="0" err="1" smtClean="0"/>
              <a:t>Labour</a:t>
            </a:r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Scope </a:t>
            </a:r>
            <a:r>
              <a:rPr lang="en-US" dirty="0" smtClean="0"/>
              <a:t>for Bangladesh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Increase industrial productivity </a:t>
            </a:r>
            <a:endParaRPr lang="en-US" dirty="0" smtClean="0"/>
          </a:p>
          <a:p>
            <a:r>
              <a:rPr lang="en-US" dirty="0" smtClean="0"/>
              <a:t>Modernize </a:t>
            </a:r>
            <a:r>
              <a:rPr lang="en-US" dirty="0" smtClean="0"/>
              <a:t>the RMG sector </a:t>
            </a:r>
            <a:endParaRPr lang="en-US" dirty="0" smtClean="0"/>
          </a:p>
          <a:p>
            <a:r>
              <a:rPr lang="en-US" dirty="0" smtClean="0"/>
              <a:t>Diversify </a:t>
            </a:r>
            <a:r>
              <a:rPr lang="en-US" dirty="0" smtClean="0"/>
              <a:t>exports </a:t>
            </a:r>
            <a:endParaRPr lang="en-US" dirty="0" smtClean="0"/>
          </a:p>
          <a:p>
            <a:r>
              <a:rPr lang="en-US" dirty="0" smtClean="0"/>
              <a:t>Develop </a:t>
            </a:r>
            <a:r>
              <a:rPr lang="en-US" dirty="0" smtClean="0"/>
              <a:t>ICT and digital services </a:t>
            </a:r>
            <a:endParaRPr lang="en-US" dirty="0" smtClean="0"/>
          </a:p>
          <a:p>
            <a:r>
              <a:rPr lang="en-US" dirty="0" smtClean="0"/>
              <a:t>Expand </a:t>
            </a:r>
            <a:r>
              <a:rPr lang="en-US" dirty="0" smtClean="0"/>
              <a:t>freelancing and remote work </a:t>
            </a:r>
            <a:endParaRPr lang="en-US" dirty="0" smtClean="0"/>
          </a:p>
          <a:p>
            <a:r>
              <a:rPr lang="en-US" dirty="0" smtClean="0"/>
              <a:t>Create </a:t>
            </a:r>
            <a:r>
              <a:rPr lang="en-US" dirty="0" smtClean="0"/>
              <a:t>high-skilled employment </a:t>
            </a:r>
            <a:endParaRPr lang="en-US" dirty="0" smtClean="0"/>
          </a:p>
          <a:p>
            <a:r>
              <a:rPr lang="en-US" dirty="0" smtClean="0"/>
              <a:t>Modernize </a:t>
            </a:r>
            <a:r>
              <a:rPr lang="en-US" dirty="0" smtClean="0"/>
              <a:t>agriculture </a:t>
            </a:r>
            <a:endParaRPr lang="en-US" dirty="0" smtClean="0"/>
          </a:p>
          <a:p>
            <a:r>
              <a:rPr lang="en-US" dirty="0" smtClean="0"/>
              <a:t>Improve </a:t>
            </a:r>
            <a:r>
              <a:rPr lang="en-US" dirty="0" smtClean="0"/>
              <a:t>healthcare </a:t>
            </a:r>
            <a:endParaRPr lang="en-US" dirty="0" smtClean="0"/>
          </a:p>
          <a:p>
            <a:r>
              <a:rPr lang="en-US" dirty="0" smtClean="0"/>
              <a:t>Develop </a:t>
            </a:r>
            <a:r>
              <a:rPr lang="en-US" dirty="0" smtClean="0"/>
              <a:t>smart cities </a:t>
            </a:r>
            <a:endParaRPr lang="en-US" dirty="0" smtClean="0"/>
          </a:p>
          <a:p>
            <a:r>
              <a:rPr lang="en-US" dirty="0" smtClean="0"/>
              <a:t>Improve </a:t>
            </a:r>
            <a:r>
              <a:rPr lang="en-US" dirty="0" smtClean="0"/>
              <a:t>e-governance </a:t>
            </a:r>
            <a:endParaRPr lang="en-US" dirty="0" smtClean="0"/>
          </a:p>
          <a:p>
            <a:r>
              <a:rPr lang="en-US" dirty="0" smtClean="0"/>
              <a:t>Strengthen </a:t>
            </a:r>
            <a:r>
              <a:rPr lang="en-US" dirty="0" smtClean="0"/>
              <a:t>disaster management </a:t>
            </a:r>
            <a:endParaRPr lang="en-US" dirty="0" smtClean="0"/>
          </a:p>
          <a:p>
            <a:r>
              <a:rPr lang="en-US" dirty="0" smtClean="0"/>
              <a:t>Promote </a:t>
            </a:r>
            <a:r>
              <a:rPr lang="en-US" dirty="0" smtClean="0"/>
              <a:t>innovation and entrepreneurship </a:t>
            </a:r>
            <a:endParaRPr lang="en-US" dirty="0" smtClean="0"/>
          </a:p>
          <a:p>
            <a:r>
              <a:rPr lang="en-US" dirty="0" smtClean="0"/>
              <a:t>Move </a:t>
            </a:r>
            <a:r>
              <a:rPr lang="en-US" dirty="0" smtClean="0"/>
              <a:t>toward higher-value-added manufacturing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                  </a:t>
            </a:r>
            <a:r>
              <a:rPr lang="en-US" sz="2800" dirty="0" smtClean="0"/>
              <a:t>Thank You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228</TotalTime>
  <Words>622</Words>
  <Application>Microsoft Office PowerPoint</Application>
  <PresentationFormat>On-screen Show (4:3)</PresentationFormat>
  <Paragraphs>108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Fourth Industrial Revolution</vt:lpstr>
      <vt:lpstr>Slide 2</vt:lpstr>
      <vt:lpstr>History </vt:lpstr>
      <vt:lpstr>Features</vt:lpstr>
      <vt:lpstr>Slide 5</vt:lpstr>
      <vt:lpstr>Slide 6</vt:lpstr>
      <vt:lpstr>Slide 7</vt:lpstr>
      <vt:lpstr>Slide 8</vt:lpstr>
      <vt:lpstr>Impact </vt:lpstr>
      <vt:lpstr>Slide 10</vt:lpstr>
      <vt:lpstr>Challenges </vt:lpstr>
      <vt:lpstr>Slide 12</vt:lpstr>
      <vt:lpstr>Scope for Bangladesh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Uder</cp:lastModifiedBy>
  <cp:revision>36</cp:revision>
  <dcterms:created xsi:type="dcterms:W3CDTF">2006-08-16T00:00:00Z</dcterms:created>
  <dcterms:modified xsi:type="dcterms:W3CDTF">2026-09-02T16:11:28Z</dcterms:modified>
</cp:coreProperties>
</file>
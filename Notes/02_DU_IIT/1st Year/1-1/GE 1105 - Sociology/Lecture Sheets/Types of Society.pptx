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70" r:id="rId16"/>
    <p:sldId id="271" r:id="rId17"/>
    <p:sldId id="274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Types of society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14400"/>
          </a:xfrm>
        </p:spPr>
        <p:txBody>
          <a:bodyPr/>
          <a:lstStyle/>
          <a:p>
            <a:r>
              <a:rPr lang="en-US" dirty="0" smtClean="0"/>
              <a:t>Ancient Society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81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smtClean="0"/>
              <a:t>Hunting and gathering society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Hunting / gathering society is the oldest and the simplest type of society.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relies heavily on hunting wild animals and gathering food for its survival.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Example: Bushmen of Southwestern Africa Hunting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These societies consist of very small but scattered groups.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Statuses in these societies are essentially equal and hence the difference between the leader and followers is not there.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Most decisions are made through group discussion. 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Their needs are simple and  easily satisfied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Political institutions are absent,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social structure of these societies is necessarily very simple,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Their culture cannot become elaborate and diversified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Hunters and gatherers constantly face the danger of extinction in a struggle against adverse environments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Limited or no division of labor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is no gender inequality</a:t>
            </a:r>
            <a:r>
              <a:rPr lang="en-US" dirty="0" smtClean="0"/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smtClean="0"/>
              <a:t>Pastoral society</a:t>
            </a:r>
          </a:p>
          <a:p>
            <a:r>
              <a:rPr lang="en-US" dirty="0" smtClean="0"/>
              <a:t>Pastoral societies are those whose livelihood is based on pasturing of animals, such as cattle, camels, sheep and goats.</a:t>
            </a:r>
          </a:p>
          <a:p>
            <a:r>
              <a:rPr lang="en-US" dirty="0" smtClean="0"/>
              <a:t>The first pastoral societies emerged between 10,000 and 12,000 years ago, </a:t>
            </a:r>
          </a:p>
          <a:p>
            <a:r>
              <a:rPr lang="en-US" dirty="0" smtClean="0"/>
              <a:t>Many pastoral societies still exist in the modern world, particularly in Africa and the Middle East.</a:t>
            </a:r>
          </a:p>
          <a:p>
            <a:r>
              <a:rPr lang="en-US" dirty="0" err="1" smtClean="0"/>
              <a:t>Pastoralism</a:t>
            </a:r>
            <a:r>
              <a:rPr lang="en-US" dirty="0" smtClean="0"/>
              <a:t> is a much more reliable and productive strategy than hunting and gathering.</a:t>
            </a:r>
          </a:p>
          <a:p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62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334000"/>
          </a:xfrm>
        </p:spPr>
        <p:txBody>
          <a:bodyPr>
            <a:normAutofit/>
          </a:bodyPr>
          <a:lstStyle/>
          <a:p>
            <a:r>
              <a:rPr lang="en-US" b="1" dirty="0" smtClean="0"/>
              <a:t>Horticulture society</a:t>
            </a:r>
          </a:p>
          <a:p>
            <a:r>
              <a:rPr lang="en-US" dirty="0" smtClean="0"/>
              <a:t>Horticultural are those whose economy is based on cultivating plants by the use of simple tools, such as digging sticks, hoes, axes, etc. </a:t>
            </a:r>
          </a:p>
          <a:p>
            <a:r>
              <a:rPr lang="en-US" dirty="0" smtClean="0"/>
              <a:t>Horticultural societies developed around 7000 BC in the Middle East and gradually spread west through Europe and Africa and east through Asia. </a:t>
            </a:r>
          </a:p>
          <a:p>
            <a:r>
              <a:rPr lang="en-US" dirty="0" smtClean="0"/>
              <a:t>Cultivation is more often a female responsibility in horticultural societies than in agrarian societies</a:t>
            </a:r>
          </a:p>
          <a:p>
            <a:r>
              <a:rPr lang="en-US" dirty="0" smtClean="0"/>
              <a:t>Polygamy—when a husband has multiple wives—is common.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14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Agriculture society</a:t>
            </a:r>
          </a:p>
          <a:p>
            <a:r>
              <a:rPr lang="en-US" dirty="0" smtClean="0"/>
              <a:t>An agrarian society focuses its economy primarily on agriculture and the cultivation of large fields.</a:t>
            </a:r>
          </a:p>
          <a:p>
            <a:r>
              <a:rPr lang="en-US" dirty="0" smtClean="0"/>
              <a:t>The first agrarian societies arose approximately 5000 to 6,000 years ago in Mesopotamia and Egypt and slightly later in China and India. </a:t>
            </a:r>
          </a:p>
          <a:p>
            <a:r>
              <a:rPr lang="en-US" dirty="0" smtClean="0"/>
              <a:t>Simple living pattern</a:t>
            </a:r>
          </a:p>
          <a:p>
            <a:r>
              <a:rPr lang="en-US" dirty="0" smtClean="0"/>
              <a:t>Emphasis on agriculture and farming as the primary method of subsistence</a:t>
            </a:r>
          </a:p>
          <a:p>
            <a:r>
              <a:rPr lang="en-US" dirty="0" smtClean="0"/>
              <a:t>Agrarian farmers work much harder than do the members of earlier types of societies.</a:t>
            </a:r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members of agrarian societies are peasants. </a:t>
            </a:r>
          </a:p>
          <a:p>
            <a:r>
              <a:rPr lang="en-US" dirty="0" smtClean="0"/>
              <a:t>Non-</a:t>
            </a:r>
            <a:r>
              <a:rPr lang="en-US" dirty="0" err="1" smtClean="0"/>
              <a:t>mechanised</a:t>
            </a:r>
            <a:r>
              <a:rPr lang="en-US" dirty="0" smtClean="0"/>
              <a:t> agriculture</a:t>
            </a:r>
          </a:p>
          <a:p>
            <a:r>
              <a:rPr lang="en-US" dirty="0" smtClean="0"/>
              <a:t>Grow most of own food etc to meet most of subsistence needs. </a:t>
            </a:r>
          </a:p>
          <a:p>
            <a:r>
              <a:rPr lang="en-US" dirty="0" smtClean="0"/>
              <a:t>They also grow a surplus to sell etc.</a:t>
            </a:r>
          </a:p>
          <a:p>
            <a:r>
              <a:rPr lang="en-US" dirty="0" smtClean="0"/>
              <a:t>Status of women is usually low.</a:t>
            </a:r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10600" cy="990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/>
              <a:t>Feudal Society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It was in Europe, especially in England, from about the 9</a:t>
            </a:r>
            <a:r>
              <a:rPr lang="en-US" baseline="30000" dirty="0" smtClean="0"/>
              <a:t>th</a:t>
            </a:r>
            <a:r>
              <a:rPr lang="en-US" dirty="0" smtClean="0"/>
              <a:t> to the 12</a:t>
            </a:r>
            <a:r>
              <a:rPr lang="en-US" baseline="30000" dirty="0" smtClean="0"/>
              <a:t>th</a:t>
            </a:r>
            <a:r>
              <a:rPr lang="en-US" dirty="0" smtClean="0"/>
              <a:t> century.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The piece of land was called the manor.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It was land base production system.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</p:spPr>
        <p:txBody>
          <a:bodyPr/>
          <a:lstStyle/>
          <a:p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b="1" dirty="0" smtClean="0"/>
              <a:t>The King/Monarch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/>
              <a:t>It was believed that land has been gifted by God to the king and king is the real owner of the land.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The king believed he was given the right to rule by God. This was called "divine right".</a:t>
            </a:r>
          </a:p>
          <a:p>
            <a:pPr>
              <a:defRPr/>
            </a:pPr>
            <a:r>
              <a:rPr lang="en-US" dirty="0" smtClean="0"/>
              <a:t>The king had total control over all the assets and he used to decide as how much quantity of land to provide on lease to the </a:t>
            </a:r>
            <a:r>
              <a:rPr lang="en-US" b="1" dirty="0" smtClean="0"/>
              <a:t>barons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smtClean="0"/>
              <a:t> In case any of the barons exhibited poor performance, the king had the power to withdraw the land and give it  to any other person belonging to the baron class. </a:t>
            </a:r>
          </a:p>
          <a:p>
            <a:pPr>
              <a:defRPr/>
            </a:pPr>
            <a:r>
              <a:rPr lang="en-US" dirty="0" smtClean="0"/>
              <a:t>All the judicial power was in the hands of the king.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4" name="Picture 4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33400" y="1371600"/>
            <a:ext cx="7772400" cy="51816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 fontScale="90000"/>
          </a:bodyPr>
          <a:lstStyle/>
          <a:p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b="1" dirty="0" smtClean="0"/>
              <a:t>Barons/Nobles</a:t>
            </a:r>
          </a:p>
          <a:p>
            <a:pPr>
              <a:defRPr/>
            </a:pPr>
            <a:r>
              <a:rPr lang="en-US" dirty="0" smtClean="0"/>
              <a:t>The Barons in the </a:t>
            </a:r>
            <a:r>
              <a:rPr lang="en-US" b="1" dirty="0" smtClean="0"/>
              <a:t>feudal system social hierarchy </a:t>
            </a:r>
            <a:r>
              <a:rPr lang="en-US" dirty="0" smtClean="0"/>
              <a:t>were the second wealthiest class. </a:t>
            </a:r>
          </a:p>
          <a:p>
            <a:pPr>
              <a:defRPr/>
            </a:pPr>
            <a:r>
              <a:rPr lang="en-US" dirty="0" smtClean="0"/>
              <a:t>They were called as the </a:t>
            </a:r>
            <a:r>
              <a:rPr lang="en-US" b="1" dirty="0" smtClean="0"/>
              <a:t>Lord of the Manor</a:t>
            </a:r>
            <a:r>
              <a:rPr lang="en-US" dirty="0" smtClean="0"/>
              <a:t>. </a:t>
            </a:r>
          </a:p>
          <a:p>
            <a:pPr>
              <a:defRPr/>
            </a:pPr>
            <a:r>
              <a:rPr lang="en-US" dirty="0" smtClean="0"/>
              <a:t>They established their own legal systems, designed their own currency and set their own tax regulation schemes.</a:t>
            </a:r>
          </a:p>
          <a:p>
            <a:pPr>
              <a:defRPr/>
            </a:pPr>
            <a:r>
              <a:rPr lang="en-US" dirty="0" smtClean="0"/>
              <a:t> the Barons had to perform the following functions for them:</a:t>
            </a:r>
          </a:p>
          <a:p>
            <a:pPr marL="571500" indent="-571500">
              <a:buFont typeface="+mj-lt"/>
              <a:buAutoNum type="romanUcPeriod"/>
              <a:defRPr/>
            </a:pPr>
            <a:r>
              <a:rPr lang="en-US" dirty="0" smtClean="0"/>
              <a:t>They had to serve the royal council.</a:t>
            </a:r>
          </a:p>
          <a:p>
            <a:pPr marL="571500" indent="-571500">
              <a:buFont typeface="+mj-lt"/>
              <a:buAutoNum type="romanUcPeriod"/>
              <a:defRPr/>
            </a:pPr>
            <a:r>
              <a:rPr lang="en-US" dirty="0" smtClean="0"/>
              <a:t>They had to provide the King with Knights to tackle with any form of war.</a:t>
            </a:r>
          </a:p>
          <a:p>
            <a:pPr marL="571500" indent="-571500">
              <a:buFont typeface="+mj-lt"/>
              <a:buAutoNum type="romanUcPeriod"/>
              <a:defRPr/>
            </a:pPr>
            <a:r>
              <a:rPr lang="en-US" dirty="0" smtClean="0"/>
              <a:t>They had to provide food and lodging facilities to the king, when they traveled to different locations.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endParaRPr lang="en-US" dirty="0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smtClean="0"/>
              <a:t>Knights/Vassals</a:t>
            </a:r>
          </a:p>
          <a:p>
            <a:r>
              <a:rPr lang="en-US" dirty="0" smtClean="0"/>
              <a:t>The Knights were provided the leased land by the barons and in return, they provided military service to the king at the time of need. </a:t>
            </a:r>
          </a:p>
          <a:p>
            <a:r>
              <a:rPr lang="en-US" dirty="0" smtClean="0"/>
              <a:t>They also had to protect the Baron and his family.</a:t>
            </a:r>
          </a:p>
          <a:p>
            <a:r>
              <a:rPr lang="en-US" dirty="0" smtClean="0"/>
              <a:t>They keep a part of the land provided to them by the Barons and distribute the rest of the lands to the </a:t>
            </a:r>
            <a:r>
              <a:rPr lang="en-US" dirty="0" err="1" smtClean="0"/>
              <a:t>Villeins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They also used to set their own taxation and rent guidelines for the </a:t>
            </a:r>
            <a:r>
              <a:rPr lang="en-US" dirty="0" err="1" smtClean="0"/>
              <a:t>Villeins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Their main job role was to give protection to the king and therefore they were paid quite well.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>
            <a:normAutofit fontScale="90000"/>
          </a:bodyPr>
          <a:lstStyle/>
          <a:p>
            <a:endParaRPr lang="en-US" dirty="0" smtClean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err="1" smtClean="0"/>
              <a:t>Villeins</a:t>
            </a:r>
            <a:r>
              <a:rPr lang="en-US" b="1" dirty="0" smtClean="0"/>
              <a:t>/Peasants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The </a:t>
            </a:r>
            <a:r>
              <a:rPr lang="en-US" dirty="0" err="1" smtClean="0"/>
              <a:t>Villeins</a:t>
            </a:r>
            <a:r>
              <a:rPr lang="en-US" dirty="0" smtClean="0"/>
              <a:t> were granted land by the Knights.</a:t>
            </a:r>
          </a:p>
          <a:p>
            <a:r>
              <a:rPr lang="en-US" dirty="0" smtClean="0"/>
              <a:t> They had to provide food and service to their superior classes on demand.</a:t>
            </a:r>
          </a:p>
          <a:p>
            <a:r>
              <a:rPr lang="en-US" dirty="0" smtClean="0"/>
              <a:t> They were not allowed to leave the Manor without prior permission. </a:t>
            </a:r>
          </a:p>
          <a:p>
            <a:r>
              <a:rPr lang="en-US" dirty="0" smtClean="0"/>
              <a:t>They had no rights to marry without the permission of their Lords. </a:t>
            </a:r>
          </a:p>
          <a:p>
            <a:pPr eaLnBrk="1" hangingPunct="1"/>
            <a:r>
              <a:rPr lang="en-US" dirty="0" smtClean="0"/>
              <a:t>Around 90 percent of the people worked the land as peasants.</a:t>
            </a:r>
          </a:p>
          <a:p>
            <a:pPr eaLnBrk="1" hangingPunct="1"/>
            <a:r>
              <a:rPr lang="en-US" dirty="0" smtClean="0"/>
              <a:t>Peasants worked hard and died young. Most were dead before they reached 30 years old.</a:t>
            </a:r>
          </a:p>
          <a:p>
            <a:pPr eaLnBrk="1" hangingPunct="1"/>
            <a:r>
              <a:rPr lang="en-US" dirty="0" smtClean="0"/>
              <a:t>They used to be the poorest class in the </a:t>
            </a:r>
            <a:r>
              <a:rPr lang="en-US" b="1" dirty="0" smtClean="0"/>
              <a:t>feudal system social hierarchy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495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dirty="0" smtClean="0"/>
              <a:t>There were two groups of peasant workers on the manor</a:t>
            </a:r>
          </a:p>
          <a:p>
            <a:pPr>
              <a:lnSpc>
                <a:spcPct val="90000"/>
              </a:lnSpc>
              <a:defRPr/>
            </a:pPr>
            <a:r>
              <a:rPr lang="en-US" b="1" dirty="0" smtClean="0"/>
              <a:t>Freemen</a:t>
            </a:r>
            <a:r>
              <a:rPr lang="en-US" dirty="0" smtClean="0"/>
              <a:t>- skilled workers who paid rent and could leave the manor whenever they wished.  (They usually had a skill needed by others on the manor.)</a:t>
            </a:r>
          </a:p>
          <a:p>
            <a:pPr>
              <a:lnSpc>
                <a:spcPct val="90000"/>
              </a:lnSpc>
              <a:defRPr/>
            </a:pPr>
            <a:r>
              <a:rPr lang="en-US" b="1" dirty="0" smtClean="0"/>
              <a:t>Serfs</a:t>
            </a:r>
            <a:r>
              <a:rPr lang="en-US" dirty="0" smtClean="0"/>
              <a:t> – workers bound to the land by contract with the nobles.  (They had no freedom - they where </a:t>
            </a:r>
            <a:r>
              <a:rPr lang="en-US" smtClean="0"/>
              <a:t>the baron/noble’s </a:t>
            </a:r>
            <a:r>
              <a:rPr lang="en-US" dirty="0" smtClean="0"/>
              <a:t>property.)</a:t>
            </a:r>
            <a:endParaRPr lang="en-US" b="1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96112"/>
          </a:xfrm>
        </p:spPr>
        <p:txBody>
          <a:bodyPr/>
          <a:lstStyle/>
          <a:p>
            <a:r>
              <a:rPr lang="en-US" dirty="0" smtClean="0"/>
              <a:t>Capital society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35480"/>
            <a:ext cx="8686800" cy="438912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Capitalism is an economic system in which capital goods are owned by private individuals or businesses. </a:t>
            </a:r>
          </a:p>
          <a:p>
            <a:r>
              <a:rPr lang="en-US" dirty="0" smtClean="0"/>
              <a:t>The production of goods and services is based on supply and demand in the general market (market economy), rather than through central planning (planned economy or command economy).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The Social Work Dictionary,1995:</a:t>
            </a:r>
          </a:p>
          <a:p>
            <a:r>
              <a:rPr lang="en-US" dirty="0" smtClean="0"/>
              <a:t>Capitalism is an economic system in which the production and distribution of goods and services for consumers are controlled through private ownership and open competitions.</a:t>
            </a:r>
          </a:p>
          <a:p>
            <a:r>
              <a:rPr lang="en-US" b="1" dirty="0" smtClean="0"/>
              <a:t>Adam Smith </a:t>
            </a:r>
            <a:r>
              <a:rPr lang="en-US" dirty="0" smtClean="0"/>
              <a:t>is often referred to as the </a:t>
            </a:r>
            <a:r>
              <a:rPr lang="en-US" b="1" dirty="0" smtClean="0"/>
              <a:t>“Father of Capitalism.”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Features   of Capital society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en-US" sz="2800" b="1" dirty="0" smtClean="0"/>
              <a:t>According to Dictionary of Sociology:</a:t>
            </a:r>
            <a:r>
              <a:rPr lang="en-US" sz="2800" dirty="0" smtClean="0"/>
              <a:t> </a:t>
            </a:r>
          </a:p>
          <a:p>
            <a:pPr>
              <a:lnSpc>
                <a:spcPct val="80000"/>
              </a:lnSpc>
            </a:pPr>
            <a:r>
              <a:rPr lang="en-US" sz="2800" dirty="0" smtClean="0"/>
              <a:t>1. Private ownership of land and capital resources by individuals, partnerships and corporations</a:t>
            </a:r>
          </a:p>
          <a:p>
            <a:pPr>
              <a:lnSpc>
                <a:spcPct val="80000"/>
              </a:lnSpc>
            </a:pPr>
            <a:r>
              <a:rPr lang="en-US" sz="2800" dirty="0" smtClean="0"/>
              <a:t>2. Competition primarily for profit for the owners</a:t>
            </a:r>
          </a:p>
          <a:p>
            <a:pPr>
              <a:lnSpc>
                <a:spcPct val="80000"/>
              </a:lnSpc>
            </a:pPr>
            <a:r>
              <a:rPr lang="en-US" sz="2800" dirty="0" smtClean="0"/>
              <a:t>3. Much stimulation of enterprise</a:t>
            </a:r>
          </a:p>
          <a:p>
            <a:pPr>
              <a:lnSpc>
                <a:spcPct val="80000"/>
              </a:lnSpc>
            </a:pPr>
            <a:r>
              <a:rPr lang="en-US" sz="2800" dirty="0" smtClean="0"/>
              <a:t>4. Increase of inventions</a:t>
            </a:r>
          </a:p>
          <a:p>
            <a:pPr>
              <a:lnSpc>
                <a:spcPct val="80000"/>
              </a:lnSpc>
            </a:pPr>
            <a:r>
              <a:rPr lang="en-US" sz="2800" dirty="0" smtClean="0"/>
              <a:t>5. Improvement of technical process</a:t>
            </a:r>
          </a:p>
          <a:p>
            <a:pPr>
              <a:lnSpc>
                <a:spcPct val="80000"/>
              </a:lnSpc>
            </a:pPr>
            <a:r>
              <a:rPr lang="en-US" sz="2800" dirty="0" smtClean="0"/>
              <a:t>6. High specialization of finance in particular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7. Rapid enlargement of production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8. World wide extension of commerce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9. Growth of large powerful corporate organizations producing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10. Some private control of government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11. Increasingly powerful labor organizations that are securing improved status and influence of the workers.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Social Consequences  of Capitalism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Over emphasizes profits and neglects group interests</a:t>
            </a:r>
          </a:p>
          <a:p>
            <a:r>
              <a:rPr lang="en-US" dirty="0" smtClean="0"/>
              <a:t>No guarantee  that profits and economic activities will be used for the interests of the society</a:t>
            </a:r>
          </a:p>
          <a:p>
            <a:r>
              <a:rPr lang="en-US" dirty="0" smtClean="0"/>
              <a:t>Leads to labor exploitations</a:t>
            </a:r>
          </a:p>
          <a:p>
            <a:r>
              <a:rPr lang="en-US" dirty="0" smtClean="0"/>
              <a:t>Workers suffer from a sense of job insecurity</a:t>
            </a:r>
          </a:p>
          <a:p>
            <a:r>
              <a:rPr lang="en-US" dirty="0" smtClean="0"/>
              <a:t>Develop self-centered mentality</a:t>
            </a:r>
          </a:p>
          <a:p>
            <a:r>
              <a:rPr lang="en-US" dirty="0" smtClean="0"/>
              <a:t>Conflicts between employers and employees</a:t>
            </a:r>
          </a:p>
          <a:p>
            <a:r>
              <a:rPr lang="en-US" dirty="0" smtClean="0"/>
              <a:t>Destruction of Human Values</a:t>
            </a:r>
          </a:p>
          <a:p>
            <a:r>
              <a:rPr lang="en-US" dirty="0" smtClean="0"/>
              <a:t>Materialism</a:t>
            </a:r>
          </a:p>
          <a:p>
            <a:r>
              <a:rPr lang="en-US" dirty="0" smtClean="0"/>
              <a:t>Greed for Wealth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Thank you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36</TotalTime>
  <Words>991</Words>
  <Application>Microsoft Office PowerPoint</Application>
  <PresentationFormat>On-screen Show (4:3)</PresentationFormat>
  <Paragraphs>105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Flow</vt:lpstr>
      <vt:lpstr>Types of society</vt:lpstr>
      <vt:lpstr>Ancient Society</vt:lpstr>
      <vt:lpstr>Slide 3</vt:lpstr>
      <vt:lpstr>Slide 4</vt:lpstr>
      <vt:lpstr>Slide 5</vt:lpstr>
      <vt:lpstr>Slide 6</vt:lpstr>
      <vt:lpstr>Slide 7</vt:lpstr>
      <vt:lpstr>Feudal Society</vt:lpstr>
      <vt:lpstr>Slide 9</vt:lpstr>
      <vt:lpstr>Slide 10</vt:lpstr>
      <vt:lpstr>Slide 11</vt:lpstr>
      <vt:lpstr>Slide 12</vt:lpstr>
      <vt:lpstr>Slide 13</vt:lpstr>
      <vt:lpstr>Slide 14</vt:lpstr>
      <vt:lpstr>Capital society</vt:lpstr>
      <vt:lpstr>Features   of Capital society</vt:lpstr>
      <vt:lpstr>Social Consequences  of Capitalism</vt:lpstr>
      <vt:lpstr>Slide 18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society</dc:title>
  <dc:creator>User</dc:creator>
  <cp:lastModifiedBy>Uder</cp:lastModifiedBy>
  <cp:revision>10</cp:revision>
  <dcterms:created xsi:type="dcterms:W3CDTF">2006-08-16T00:00:00Z</dcterms:created>
  <dcterms:modified xsi:type="dcterms:W3CDTF">2026-08-02T17:00:05Z</dcterms:modified>
</cp:coreProperties>
</file>
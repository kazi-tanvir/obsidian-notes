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7/5/2026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Antonio </a:t>
            </a:r>
            <a:r>
              <a:rPr lang="en-US" dirty="0" err="1" smtClean="0"/>
              <a:t>Gramsci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Antonio Francesco </a:t>
            </a:r>
            <a:r>
              <a:rPr lang="en-US" b="1" dirty="0" err="1" smtClean="0"/>
              <a:t>Gramsci</a:t>
            </a:r>
            <a:r>
              <a:rPr lang="en-US" dirty="0" smtClean="0"/>
              <a:t>  (22 January 1891 – 27 April 1937) was an Italian Marxist philosopher, journalist and politician. </a:t>
            </a:r>
          </a:p>
          <a:p>
            <a:r>
              <a:rPr lang="en-US" dirty="0" smtClean="0"/>
              <a:t>He was a founding member and one-time leader of the Italian Communist Party. </a:t>
            </a:r>
          </a:p>
          <a:p>
            <a:r>
              <a:rPr lang="en-US" dirty="0" smtClean="0"/>
              <a:t>A vocal critic of Benito Mussolini and fascism, he was imprisoned in 1926, and remained in prison until shortly before his death in 1937.</a:t>
            </a:r>
          </a:p>
          <a:p>
            <a:r>
              <a:rPr lang="en-US" dirty="0" smtClean="0"/>
              <a:t>During his imprisonment, </a:t>
            </a:r>
            <a:r>
              <a:rPr lang="en-US" dirty="0" err="1" smtClean="0"/>
              <a:t>Gramsci</a:t>
            </a:r>
            <a:r>
              <a:rPr lang="en-US" dirty="0" smtClean="0"/>
              <a:t> wrote more than 30 notebooks and 3,000 pages of history and analysis.</a:t>
            </a:r>
          </a:p>
          <a:p>
            <a:r>
              <a:rPr lang="en-US" dirty="0" smtClean="0"/>
              <a:t>His </a:t>
            </a:r>
            <a:r>
              <a:rPr lang="en-US" i="1" dirty="0" smtClean="0"/>
              <a:t>Prison Notebooks</a:t>
            </a:r>
            <a:r>
              <a:rPr lang="en-US" dirty="0" smtClean="0"/>
              <a:t> are considered a highly original contribution to 20th-century political theory.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dirty="0" smtClean="0"/>
              <a:t>Theory of </a:t>
            </a:r>
            <a:r>
              <a:rPr lang="en-US" b="1" dirty="0" smtClean="0"/>
              <a:t>cultural hegemony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Hegemony was a term previously used by Marxists such as Vladimir Lenin to denote the political leadership of the working class in a democratic revolution.</a:t>
            </a:r>
            <a:endParaRPr lang="en-US" baseline="30000" dirty="0" smtClean="0"/>
          </a:p>
          <a:p>
            <a:r>
              <a:rPr lang="en-US" dirty="0" err="1" smtClean="0"/>
              <a:t>Gramsci</a:t>
            </a:r>
            <a:r>
              <a:rPr lang="en-US" dirty="0" smtClean="0"/>
              <a:t> greatly expanded this concept, developing an acute analysis of how the ruling capitalist class—the bourgeoisie—establishes and maintains its control</a:t>
            </a:r>
          </a:p>
          <a:p>
            <a:r>
              <a:rPr lang="en-US" b="1" dirty="0" smtClean="0"/>
              <a:t>cultural hegemony</a:t>
            </a:r>
            <a:r>
              <a:rPr lang="en-US" dirty="0" smtClean="0"/>
              <a:t> theory explains how ruling classes maintain power not just through military force or coercion, but by using culture, media, and education to gain the willing consent of the working class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35331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Main Components of Cultural Hegemony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1. Consent Rather Than Coercion</a:t>
            </a:r>
          </a:p>
          <a:p>
            <a:r>
              <a:rPr lang="en-US" dirty="0" smtClean="0"/>
              <a:t>According to </a:t>
            </a:r>
            <a:r>
              <a:rPr lang="en-US" dirty="0" err="1" smtClean="0"/>
              <a:t>Gramsci</a:t>
            </a:r>
            <a:r>
              <a:rPr lang="en-US" dirty="0" smtClean="0"/>
              <a:t>, power is maintained through:</a:t>
            </a:r>
          </a:p>
          <a:p>
            <a:r>
              <a:rPr lang="en-US" b="1" dirty="0" smtClean="0"/>
              <a:t>Coercion</a:t>
            </a:r>
            <a:r>
              <a:rPr lang="en-US" dirty="0" smtClean="0"/>
              <a:t> (force, laws, police, military) </a:t>
            </a:r>
          </a:p>
          <a:p>
            <a:r>
              <a:rPr lang="en-US" b="1" dirty="0" smtClean="0"/>
              <a:t>Consent</a:t>
            </a:r>
            <a:r>
              <a:rPr lang="en-US" dirty="0" smtClean="0"/>
              <a:t> (agreement and acceptance) </a:t>
            </a:r>
          </a:p>
          <a:p>
            <a:r>
              <a:rPr lang="en-US" dirty="0" smtClean="0"/>
              <a:t>The ruling class prefers consent because it is more stable than force.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2. Common Sense</a:t>
            </a:r>
          </a:p>
          <a:p>
            <a:r>
              <a:rPr lang="en-US" dirty="0" err="1" smtClean="0"/>
              <a:t>Gramsci</a:t>
            </a:r>
            <a:r>
              <a:rPr lang="en-US" dirty="0" smtClean="0"/>
              <a:t> argued that "common sense" is socially constructed.</a:t>
            </a:r>
          </a:p>
          <a:p>
            <a:r>
              <a:rPr lang="en-US" dirty="0" smtClean="0"/>
              <a:t>Many beliefs that seem natural are actually products of dominant ideology.</a:t>
            </a:r>
          </a:p>
          <a:p>
            <a:r>
              <a:rPr lang="en-US" dirty="0" smtClean="0"/>
              <a:t>Examples:</a:t>
            </a:r>
          </a:p>
          <a:p>
            <a:r>
              <a:rPr lang="en-US" dirty="0" smtClean="0"/>
              <a:t>"Hard work always leads to success." </a:t>
            </a:r>
          </a:p>
          <a:p>
            <a:r>
              <a:rPr lang="en-US" dirty="0" smtClean="0"/>
              <a:t>"The rich deserve their wealth." </a:t>
            </a:r>
          </a:p>
          <a:p>
            <a:r>
              <a:rPr lang="en-US" dirty="0" smtClean="0"/>
              <a:t>"Social inequality is unavoidable." </a:t>
            </a:r>
          </a:p>
          <a:p>
            <a:r>
              <a:rPr lang="en-US" dirty="0" smtClean="0"/>
              <a:t>These ideas may benefit powerful groups while appearing neutral and natural.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3. Role of Civil Society</a:t>
            </a:r>
          </a:p>
          <a:p>
            <a:r>
              <a:rPr lang="en-US" dirty="0" err="1" smtClean="0"/>
              <a:t>Gramsci</a:t>
            </a:r>
            <a:r>
              <a:rPr lang="en-US" dirty="0" smtClean="0"/>
              <a:t> believed that cultural hegemony is mainly produced in </a:t>
            </a:r>
            <a:r>
              <a:rPr lang="en-US" b="1" dirty="0" smtClean="0"/>
              <a:t>civil society</a:t>
            </a:r>
            <a:r>
              <a:rPr lang="en-US" dirty="0" smtClean="0"/>
              <a:t>, including:</a:t>
            </a:r>
          </a:p>
          <a:p>
            <a:r>
              <a:rPr lang="en-US" dirty="0" smtClean="0"/>
              <a:t>Schools and universities </a:t>
            </a:r>
          </a:p>
          <a:p>
            <a:r>
              <a:rPr lang="en-US" dirty="0" smtClean="0"/>
              <a:t>Family </a:t>
            </a:r>
          </a:p>
          <a:p>
            <a:r>
              <a:rPr lang="en-US" dirty="0" smtClean="0"/>
              <a:t>Religious institutions </a:t>
            </a:r>
          </a:p>
          <a:p>
            <a:r>
              <a:rPr lang="en-US" dirty="0" smtClean="0"/>
              <a:t>Newspapers and media </a:t>
            </a:r>
          </a:p>
          <a:p>
            <a:r>
              <a:rPr lang="en-US" dirty="0" smtClean="0"/>
              <a:t>Literature and art </a:t>
            </a:r>
          </a:p>
          <a:p>
            <a:r>
              <a:rPr lang="en-US" dirty="0" smtClean="0"/>
              <a:t>Social media and entertainment </a:t>
            </a:r>
          </a:p>
          <a:p>
            <a:r>
              <a:rPr lang="en-US" dirty="0" smtClean="0"/>
              <a:t>These institutions help spread dominant values and beliefs.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6172200"/>
          </a:xfrm>
        </p:spPr>
        <p:txBody>
          <a:bodyPr>
            <a:normAutofit lnSpcReduction="10000"/>
          </a:bodyPr>
          <a:lstStyle/>
          <a:p>
            <a:r>
              <a:rPr lang="en-US" b="1" dirty="0" smtClean="0"/>
              <a:t>4. Intellectuals</a:t>
            </a:r>
          </a:p>
          <a:p>
            <a:r>
              <a:rPr lang="en-US" dirty="0" err="1" smtClean="0"/>
              <a:t>Gramsci</a:t>
            </a:r>
            <a:r>
              <a:rPr lang="en-US" dirty="0" smtClean="0"/>
              <a:t> emphasized the importance of intellectuals.</a:t>
            </a:r>
          </a:p>
          <a:p>
            <a:r>
              <a:rPr lang="en-US" b="1" dirty="0" smtClean="0"/>
              <a:t>Traditional Intellectuals</a:t>
            </a:r>
          </a:p>
          <a:p>
            <a:r>
              <a:rPr lang="en-US" dirty="0" smtClean="0"/>
              <a:t>Teachers </a:t>
            </a:r>
          </a:p>
          <a:p>
            <a:r>
              <a:rPr lang="en-US" dirty="0" smtClean="0"/>
              <a:t>Priests </a:t>
            </a:r>
          </a:p>
          <a:p>
            <a:r>
              <a:rPr lang="en-US" dirty="0" smtClean="0"/>
              <a:t>Scholars </a:t>
            </a:r>
          </a:p>
          <a:p>
            <a:r>
              <a:rPr lang="en-US" dirty="0" smtClean="0"/>
              <a:t>Journalists </a:t>
            </a:r>
          </a:p>
          <a:p>
            <a:r>
              <a:rPr lang="en-US" dirty="0" smtClean="0"/>
              <a:t>They often present dominant ideas as universal truths.</a:t>
            </a:r>
          </a:p>
          <a:p>
            <a:r>
              <a:rPr lang="en-US" b="1" dirty="0" smtClean="0"/>
              <a:t>Organic Intellectuals</a:t>
            </a:r>
          </a:p>
          <a:p>
            <a:r>
              <a:rPr lang="en-US" dirty="0" smtClean="0"/>
              <a:t>These emerge from particular social classes and represent their interests.</a:t>
            </a:r>
          </a:p>
          <a:p>
            <a:r>
              <a:rPr lang="en-US" dirty="0" smtClean="0"/>
              <a:t>For example, labor leaders, community organizers, or activists can become organic intellectuals who challenge dominant ideologies.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/>
          </a:bodyPr>
          <a:lstStyle/>
          <a:p>
            <a:r>
              <a:rPr lang="en-US" b="1" dirty="0" smtClean="0"/>
              <a:t>Counter-Hegemony</a:t>
            </a:r>
          </a:p>
          <a:p>
            <a:r>
              <a:rPr lang="en-US" dirty="0" err="1" smtClean="0"/>
              <a:t>Gramsci</a:t>
            </a:r>
            <a:r>
              <a:rPr lang="en-US" dirty="0" smtClean="0"/>
              <a:t> did not believe hegemony was permanent.</a:t>
            </a:r>
          </a:p>
          <a:p>
            <a:r>
              <a:rPr lang="en-US" dirty="0" smtClean="0"/>
              <a:t>Subordinate groups can create </a:t>
            </a:r>
            <a:r>
              <a:rPr lang="en-US" b="1" dirty="0" smtClean="0"/>
              <a:t>counter-hegemony</a:t>
            </a:r>
            <a:r>
              <a:rPr lang="en-US" dirty="0" smtClean="0"/>
              <a:t> by developing alternative ideas and values.</a:t>
            </a:r>
          </a:p>
          <a:p>
            <a:r>
              <a:rPr lang="en-US" dirty="0" smtClean="0"/>
              <a:t>This can happen through:</a:t>
            </a:r>
          </a:p>
          <a:p>
            <a:r>
              <a:rPr lang="en-US" dirty="0" smtClean="0"/>
              <a:t>Social movements </a:t>
            </a:r>
          </a:p>
          <a:p>
            <a:r>
              <a:rPr lang="en-US" dirty="0" smtClean="0"/>
              <a:t>Independent media </a:t>
            </a:r>
          </a:p>
          <a:p>
            <a:r>
              <a:rPr lang="en-US" dirty="0" smtClean="0"/>
              <a:t>Education </a:t>
            </a:r>
          </a:p>
          <a:p>
            <a:r>
              <a:rPr lang="en-US" dirty="0" smtClean="0"/>
              <a:t>Literature </a:t>
            </a:r>
          </a:p>
          <a:p>
            <a:r>
              <a:rPr lang="en-US" dirty="0" smtClean="0"/>
              <a:t>Political activism </a:t>
            </a:r>
          </a:p>
          <a:p>
            <a:r>
              <a:rPr lang="en-US" dirty="0" smtClean="0"/>
              <a:t>The goal is to challenge dominant beliefs and create a new social consciousness.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Criticism </a:t>
            </a:r>
            <a:r>
              <a:rPr lang="en-US" dirty="0" smtClean="0"/>
              <a:t>of </a:t>
            </a:r>
            <a:r>
              <a:rPr lang="en-US" dirty="0" smtClean="0"/>
              <a:t>Cultural Hegemony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17720"/>
          </a:xfrm>
        </p:spPr>
        <p:txBody>
          <a:bodyPr/>
          <a:lstStyle/>
          <a:p>
            <a:r>
              <a:rPr lang="en-US" dirty="0" smtClean="0"/>
              <a:t>1. Overemphasis on Ideology and </a:t>
            </a:r>
            <a:r>
              <a:rPr lang="en-US" dirty="0" smtClean="0"/>
              <a:t>Culture</a:t>
            </a:r>
          </a:p>
          <a:p>
            <a:r>
              <a:rPr lang="en-US" dirty="0" smtClean="0"/>
              <a:t>2. Difficulty in Measuring </a:t>
            </a:r>
            <a:r>
              <a:rPr lang="en-US" dirty="0" smtClean="0"/>
              <a:t>Hegemony</a:t>
            </a:r>
          </a:p>
          <a:p>
            <a:r>
              <a:rPr lang="en-US" dirty="0" smtClean="0"/>
              <a:t>3. Underestimation of Individual </a:t>
            </a:r>
            <a:r>
              <a:rPr lang="en-US" dirty="0" smtClean="0"/>
              <a:t>Agency</a:t>
            </a:r>
          </a:p>
          <a:p>
            <a:r>
              <a:rPr lang="en-US" dirty="0" smtClean="0"/>
              <a:t>5. Neglect of Gender, Race, and Other Forms of </a:t>
            </a:r>
            <a:r>
              <a:rPr lang="en-US" dirty="0" smtClean="0"/>
              <a:t>Power</a:t>
            </a:r>
          </a:p>
          <a:p>
            <a:r>
              <a:rPr lang="en-US" dirty="0" smtClean="0"/>
              <a:t>6. Assumption of a Unified Ruling </a:t>
            </a:r>
            <a:r>
              <a:rPr lang="en-US" dirty="0" smtClean="0"/>
              <a:t>Class</a:t>
            </a:r>
          </a:p>
          <a:p>
            <a:r>
              <a:rPr lang="en-US" dirty="0" smtClean="0"/>
              <a:t>7. Media and Digital Age Challenges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sz="4000" dirty="0" smtClean="0"/>
              <a:t>                      Thank You </a:t>
            </a:r>
            <a:endParaRPr lang="en-US" sz="4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56</TotalTime>
  <Words>326</Words>
  <Application>Microsoft Office PowerPoint</Application>
  <PresentationFormat>On-screen Show (4:3)</PresentationFormat>
  <Paragraphs>65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Antonio Gramsci</vt:lpstr>
      <vt:lpstr>Slide 2</vt:lpstr>
      <vt:lpstr>Theory of cultural hegemony</vt:lpstr>
      <vt:lpstr>Main Components of Cultural Hegemony </vt:lpstr>
      <vt:lpstr>Slide 5</vt:lpstr>
      <vt:lpstr>Slide 6</vt:lpstr>
      <vt:lpstr>Slide 7</vt:lpstr>
      <vt:lpstr>Slide 8</vt:lpstr>
      <vt:lpstr>Criticism of Cultural Hegemony</vt:lpstr>
      <vt:lpstr>Slide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Antonio Gramsci</dc:title>
  <dc:creator>Uder</dc:creator>
  <cp:lastModifiedBy>Uder</cp:lastModifiedBy>
  <cp:revision>13</cp:revision>
  <dcterms:created xsi:type="dcterms:W3CDTF">2006-08-16T00:00:00Z</dcterms:created>
  <dcterms:modified xsi:type="dcterms:W3CDTF">2026-07-05T17:16:23Z</dcterms:modified>
</cp:coreProperties>
</file>
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9" r:id="rId4"/>
    <p:sldId id="280" r:id="rId5"/>
    <p:sldId id="281" r:id="rId6"/>
    <p:sldId id="282" r:id="rId7"/>
    <p:sldId id="283" r:id="rId8"/>
    <p:sldId id="29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6" d="100"/>
          <a:sy n="86" d="100"/>
        </p:scale>
        <p:origin x="-109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8E9AE114-3774-4CB5-A2EE-B9A37567EC80}" type="datetimeFigureOut">
              <a:rPr lang="en-US" smtClean="0"/>
              <a:pPr/>
              <a:t>7/1/2026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06A89B6B-3B46-4088-9CDE-FE6598E012D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E9AE114-3774-4CB5-A2EE-B9A37567EC80}"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89B6B-3B46-4088-9CDE-FE6598E012D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8E9AE114-3774-4CB5-A2EE-B9A37567EC80}"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89B6B-3B46-4088-9CDE-FE6598E012D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E9AE114-3774-4CB5-A2EE-B9A37567EC80}" type="datetimeFigureOut">
              <a:rPr lang="en-US" smtClean="0"/>
              <a:pPr/>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89B6B-3B46-4088-9CDE-FE6598E012D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8E9AE114-3774-4CB5-A2EE-B9A37567EC80}" type="datetimeFigureOut">
              <a:rPr lang="en-US" smtClean="0"/>
              <a:pPr/>
              <a:t>7/1/2026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A89B6B-3B46-4088-9CDE-FE6598E012D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E9AE114-3774-4CB5-A2EE-B9A37567EC80}" type="datetimeFigureOut">
              <a:rPr lang="en-US" smtClean="0"/>
              <a:pPr/>
              <a:t>7/1/2026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A89B6B-3B46-4088-9CDE-FE6598E012D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9AE114-3774-4CB5-A2EE-B9A37567EC80}" type="datetimeFigureOut">
              <a:rPr lang="en-US" smtClean="0"/>
              <a:pPr/>
              <a:t>7/1/2026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A89B6B-3B46-4088-9CDE-FE6598E012D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E9AE114-3774-4CB5-A2EE-B9A37567EC80}" type="datetimeFigureOut">
              <a:rPr lang="en-US" smtClean="0"/>
              <a:pPr/>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89B6B-3B46-4088-9CDE-FE6598E012D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8E9AE114-3774-4CB5-A2EE-B9A37567EC80}" type="datetimeFigureOut">
              <a:rPr lang="en-US" smtClean="0"/>
              <a:pPr/>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06A89B6B-3B46-4088-9CDE-FE6598E012D7}"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E9AE114-3774-4CB5-A2EE-B9A37567EC80}"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89B6B-3B46-4088-9CDE-FE6598E012D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E9AE114-3774-4CB5-A2EE-B9A37567EC80}"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89B6B-3B46-4088-9CDE-FE6598E012D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8E9AE114-3774-4CB5-A2EE-B9A37567EC80}" type="datetimeFigureOut">
              <a:rPr lang="en-US" smtClean="0"/>
              <a:pPr/>
              <a:t>7/1/2026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06A89B6B-3B46-4088-9CDE-FE6598E012D7}"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914400"/>
            <a:ext cx="7851648" cy="1905000"/>
          </a:xfrm>
        </p:spPr>
        <p:txBody>
          <a:bodyPr/>
          <a:lstStyle/>
          <a:p>
            <a:pPr algn="ctr"/>
            <a:r>
              <a:rPr lang="en-US" dirty="0" smtClean="0"/>
              <a:t>Society </a:t>
            </a:r>
            <a:endParaRPr lang="en-US" dirty="0"/>
          </a:p>
        </p:txBody>
      </p:sp>
      <p:sp>
        <p:nvSpPr>
          <p:cNvPr id="3" name="Subtitle 2"/>
          <p:cNvSpPr>
            <a:spLocks noGrp="1"/>
          </p:cNvSpPr>
          <p:nvPr>
            <p:ph type="subTitle" idx="1"/>
          </p:nvPr>
        </p:nvSpPr>
        <p:spPr>
          <a:xfrm>
            <a:off x="533400" y="3810000"/>
            <a:ext cx="7854696" cy="1676400"/>
          </a:xfrm>
        </p:spPr>
        <p:txBody>
          <a:bodyPr>
            <a:normAutofit/>
          </a:bodyPr>
          <a:lstStyle/>
          <a:p>
            <a:pPr algn="ctr"/>
            <a:endParaRPr lang="en-US" dirty="0"/>
          </a:p>
        </p:txBody>
      </p:sp>
    </p:spTree>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lstStyle/>
          <a:p>
            <a:r>
              <a:rPr lang="en-US" dirty="0" smtClean="0"/>
              <a:t>Society </a:t>
            </a:r>
            <a:endParaRPr lang="en-US" dirty="0"/>
          </a:p>
        </p:txBody>
      </p:sp>
      <p:sp>
        <p:nvSpPr>
          <p:cNvPr id="3" name="Content Placeholder 2"/>
          <p:cNvSpPr>
            <a:spLocks noGrp="1"/>
          </p:cNvSpPr>
          <p:nvPr>
            <p:ph idx="1"/>
          </p:nvPr>
        </p:nvSpPr>
        <p:spPr>
          <a:xfrm>
            <a:off x="457200" y="1600200"/>
            <a:ext cx="8382000" cy="5029200"/>
          </a:xfrm>
        </p:spPr>
        <p:txBody>
          <a:bodyPr>
            <a:normAutofit fontScale="92500" lnSpcReduction="20000"/>
          </a:bodyPr>
          <a:lstStyle/>
          <a:p>
            <a:r>
              <a:rPr lang="en-US" dirty="0" smtClean="0"/>
              <a:t>Greek Philosopher Aristotle, </a:t>
            </a:r>
            <a:r>
              <a:rPr lang="en-US" i="1" dirty="0" smtClean="0"/>
              <a:t>“Man is a social animal”.</a:t>
            </a:r>
          </a:p>
          <a:p>
            <a:r>
              <a:rPr lang="en-US" dirty="0" smtClean="0"/>
              <a:t>The term society can be traced to the Latin word </a:t>
            </a:r>
            <a:r>
              <a:rPr lang="en-US" b="1" dirty="0" err="1" smtClean="0"/>
              <a:t>socius</a:t>
            </a:r>
            <a:r>
              <a:rPr lang="en-US" dirty="0" smtClean="0"/>
              <a:t> which means companionship or friendship. </a:t>
            </a:r>
          </a:p>
          <a:p>
            <a:r>
              <a:rPr lang="en-US" b="1" dirty="0" smtClean="0"/>
              <a:t>MacIver -</a:t>
            </a:r>
            <a:r>
              <a:rPr lang="en-US" dirty="0" smtClean="0"/>
              <a:t> </a:t>
            </a:r>
            <a:r>
              <a:rPr lang="en-US" i="1" dirty="0" smtClean="0"/>
              <a:t>“Society is a web of social relationship”. </a:t>
            </a:r>
          </a:p>
          <a:p>
            <a:r>
              <a:rPr lang="en-US" i="1" dirty="0" smtClean="0"/>
              <a:t> </a:t>
            </a:r>
            <a:r>
              <a:rPr lang="en-US" b="1" dirty="0" smtClean="0"/>
              <a:t>P. </a:t>
            </a:r>
            <a:r>
              <a:rPr lang="en-US" b="1" dirty="0" err="1" smtClean="0"/>
              <a:t>Gisbert</a:t>
            </a:r>
            <a:r>
              <a:rPr lang="en-US" b="1" dirty="0" smtClean="0"/>
              <a:t>, </a:t>
            </a:r>
            <a:r>
              <a:rPr lang="en-US" dirty="0" smtClean="0"/>
              <a:t>in his book “Fundamentals of Sociology” stated that, </a:t>
            </a:r>
            <a:r>
              <a:rPr lang="en-US" i="1" dirty="0" smtClean="0"/>
              <a:t>“Society in general, consists in the complicated network of social relationships by which every human being is interconnected with his fellowmen.” </a:t>
            </a:r>
          </a:p>
          <a:p>
            <a:r>
              <a:rPr lang="en-US" b="1" dirty="0" smtClean="0"/>
              <a:t>Anthony </a:t>
            </a:r>
            <a:r>
              <a:rPr lang="en-US" b="1" dirty="0" err="1" smtClean="0"/>
              <a:t>Giddens</a:t>
            </a:r>
            <a:r>
              <a:rPr lang="en-US" b="1" dirty="0" smtClean="0"/>
              <a:t> </a:t>
            </a:r>
            <a:r>
              <a:rPr lang="en-US" dirty="0" smtClean="0"/>
              <a:t>(2000) states; </a:t>
            </a:r>
            <a:r>
              <a:rPr lang="en-US" i="1" dirty="0" smtClean="0"/>
              <a:t>“A society is a group of people who live in a particular territory, are subject to a common system of political authority, and are aware of having a distinct identity from other groups around them.”</a:t>
            </a:r>
          </a:p>
          <a:p>
            <a:r>
              <a:rPr lang="en-US" b="1" dirty="0" smtClean="0"/>
              <a:t>Example of society:</a:t>
            </a:r>
          </a:p>
          <a:p>
            <a:r>
              <a:rPr lang="en-US" dirty="0" smtClean="0"/>
              <a:t>Primitive Society, Modern society, Rural and Urban society.</a:t>
            </a:r>
          </a:p>
          <a:p>
            <a:endParaRPr lang="en-US" b="1" i="1" dirty="0" smtClean="0"/>
          </a:p>
          <a:p>
            <a:endParaRPr lang="en-US" b="1" i="1" dirty="0" smtClean="0"/>
          </a:p>
          <a:p>
            <a:endParaRPr lang="en-US" dirty="0"/>
          </a:p>
        </p:txBody>
      </p:sp>
    </p:spTree>
  </p:cSld>
  <p:clrMapOvr>
    <a:masterClrMapping/>
  </p:clrMapOvr>
  <p:transition>
    <p:dissolv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14400"/>
          </a:xfrm>
        </p:spPr>
        <p:txBody>
          <a:bodyPr/>
          <a:lstStyle/>
          <a:p>
            <a:r>
              <a:rPr lang="en-US" b="1" dirty="0" smtClean="0"/>
              <a:t>Characteristics </a:t>
            </a:r>
            <a:r>
              <a:rPr lang="en-US" dirty="0" smtClean="0"/>
              <a:t> </a:t>
            </a:r>
            <a:r>
              <a:rPr lang="en-US" b="1" dirty="0" smtClean="0"/>
              <a:t>of Society</a:t>
            </a:r>
            <a:endParaRPr lang="en-US" dirty="0"/>
          </a:p>
        </p:txBody>
      </p:sp>
      <p:sp>
        <p:nvSpPr>
          <p:cNvPr id="3" name="Content Placeholder 2"/>
          <p:cNvSpPr>
            <a:spLocks noGrp="1"/>
          </p:cNvSpPr>
          <p:nvPr>
            <p:ph idx="1"/>
          </p:nvPr>
        </p:nvSpPr>
        <p:spPr>
          <a:xfrm>
            <a:off x="457200" y="1524000"/>
            <a:ext cx="8229600" cy="5105400"/>
          </a:xfrm>
        </p:spPr>
        <p:txBody>
          <a:bodyPr>
            <a:normAutofit/>
          </a:bodyPr>
          <a:lstStyle/>
          <a:p>
            <a:pPr>
              <a:buFont typeface="Wingdings" pitchFamily="2" charset="2"/>
              <a:buChar char="Ø"/>
            </a:pPr>
            <a:r>
              <a:rPr lang="en-US" b="1" dirty="0" smtClean="0"/>
              <a:t>Abstract in Nature</a:t>
            </a:r>
          </a:p>
          <a:p>
            <a:r>
              <a:rPr lang="en-US" dirty="0" smtClean="0"/>
              <a:t>society is viewed as web of social relationships</a:t>
            </a:r>
          </a:p>
          <a:p>
            <a:r>
              <a:rPr lang="en-US" dirty="0" smtClean="0"/>
              <a:t>We can not see the structure of it, we can just feel it. It consists of social relations, human behavior, customs, rituals, etc.</a:t>
            </a:r>
          </a:p>
          <a:p>
            <a:pPr>
              <a:buFont typeface="Wingdings" pitchFamily="2" charset="2"/>
              <a:buChar char="Ø"/>
            </a:pPr>
            <a:r>
              <a:rPr lang="en-US" b="1" dirty="0" smtClean="0"/>
              <a:t>Dynamic in Nature</a:t>
            </a:r>
          </a:p>
          <a:p>
            <a:endParaRPr lang="en-US" dirty="0"/>
          </a:p>
        </p:txBody>
      </p:sp>
    </p:spTree>
  </p:cSld>
  <p:clrMapOvr>
    <a:masterClrMapping/>
  </p:clrMapOvr>
  <p:transition>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Font typeface="Wingdings" pitchFamily="2" charset="2"/>
              <a:buChar char="Ø"/>
            </a:pPr>
            <a:r>
              <a:rPr lang="en-US" b="1" dirty="0" smtClean="0"/>
              <a:t>It Consists of People</a:t>
            </a:r>
          </a:p>
          <a:p>
            <a:r>
              <a:rPr lang="en-US" dirty="0" smtClean="0"/>
              <a:t>It is composed of people. Without people, there is no society. </a:t>
            </a:r>
          </a:p>
          <a:p>
            <a:r>
              <a:rPr lang="en-US" dirty="0" smtClean="0"/>
              <a:t>No social relationships and no social life is possible.</a:t>
            </a:r>
          </a:p>
          <a:p>
            <a:pPr>
              <a:buFont typeface="Wingdings" pitchFamily="2" charset="2"/>
              <a:buChar char="Ø"/>
            </a:pPr>
            <a:r>
              <a:rPr lang="en-US" b="1" dirty="0" smtClean="0"/>
              <a:t>It is not only a group of persons</a:t>
            </a:r>
          </a:p>
          <a:p>
            <a:r>
              <a:rPr lang="en-US" dirty="0" smtClean="0"/>
              <a:t>According to sociologist </a:t>
            </a:r>
            <a:r>
              <a:rPr lang="en-US" b="1" dirty="0" smtClean="0"/>
              <a:t>Wright,</a:t>
            </a:r>
            <a:r>
              <a:rPr lang="en-US" dirty="0" smtClean="0"/>
              <a:t> </a:t>
            </a:r>
            <a:r>
              <a:rPr lang="en-US" i="1" dirty="0" smtClean="0"/>
              <a:t>society is not a group of persons rather it is a relationship and interaction process among and between people and groups.</a:t>
            </a:r>
          </a:p>
          <a:p>
            <a:endParaRPr lang="en-US" dirty="0"/>
          </a:p>
        </p:txBody>
      </p:sp>
    </p:spTree>
  </p:cSld>
  <p:clrMapOvr>
    <a:masterClrMapping/>
  </p:clrMapOvr>
  <p:transition>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buFont typeface="Wingdings" pitchFamily="2" charset="2"/>
              <a:buChar char="Ø"/>
            </a:pPr>
            <a:r>
              <a:rPr lang="en-US" b="1" dirty="0" smtClean="0"/>
              <a:t>It is a complex system</a:t>
            </a:r>
          </a:p>
          <a:p>
            <a:r>
              <a:rPr lang="en-US" dirty="0" smtClean="0"/>
              <a:t>It is ever-changing. Due to continuous changes in people’s roles, rights, duties, and conditions whole social structure gets changed. </a:t>
            </a:r>
          </a:p>
          <a:p>
            <a:r>
              <a:rPr lang="en-US" dirty="0" smtClean="0"/>
              <a:t>Its nature changed from simple to complex due to its dynamic nature.</a:t>
            </a:r>
          </a:p>
          <a:p>
            <a:pPr>
              <a:buFont typeface="Wingdings" pitchFamily="2" charset="2"/>
              <a:buChar char="Ø"/>
            </a:pPr>
            <a:r>
              <a:rPr lang="en-US" b="1" dirty="0" smtClean="0"/>
              <a:t>It is based on interdependence</a:t>
            </a:r>
          </a:p>
          <a:p>
            <a:r>
              <a:rPr lang="en-US" dirty="0" smtClean="0"/>
              <a:t>Nobody is self sufficient</a:t>
            </a:r>
          </a:p>
          <a:p>
            <a:r>
              <a:rPr lang="en-US" dirty="0" smtClean="0"/>
              <a:t>Society’s people and groups are interdependent. </a:t>
            </a:r>
          </a:p>
          <a:p>
            <a:r>
              <a:rPr lang="en-US" dirty="0" smtClean="0"/>
              <a:t>One has to depend upon others for the satisfaction of needs.</a:t>
            </a:r>
          </a:p>
          <a:p>
            <a:endParaRPr lang="en-US" dirty="0"/>
          </a:p>
        </p:txBody>
      </p:sp>
    </p:spTree>
  </p:cSld>
  <p:clrMapOvr>
    <a:masterClrMapping/>
  </p:clrMapOvr>
  <p:transition>
    <p:dissolv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371600"/>
            <a:ext cx="8229600" cy="5334000"/>
          </a:xfrm>
        </p:spPr>
        <p:txBody>
          <a:bodyPr>
            <a:normAutofit fontScale="92500" lnSpcReduction="20000"/>
          </a:bodyPr>
          <a:lstStyle/>
          <a:p>
            <a:pPr>
              <a:buFont typeface="Wingdings" pitchFamily="2" charset="2"/>
              <a:buChar char="Ø"/>
            </a:pPr>
            <a:r>
              <a:rPr lang="en-US" b="1" dirty="0" smtClean="0"/>
              <a:t>Cooperation and conflict</a:t>
            </a:r>
          </a:p>
          <a:p>
            <a:r>
              <a:rPr lang="en-US" dirty="0" smtClean="0"/>
              <a:t>People can satisfy their desires and fulfill their needs with the help of cooperation. Due to a lot of differences, we find conflicts in society. In it, like cooperation, conflict also existed directly or indirectly.</a:t>
            </a:r>
          </a:p>
          <a:p>
            <a:r>
              <a:rPr lang="en-US" dirty="0" smtClean="0"/>
              <a:t>“Society is cooperation crossed by conflict”. (</a:t>
            </a:r>
            <a:r>
              <a:rPr lang="en-US" dirty="0" err="1" smtClean="0"/>
              <a:t>Maclver</a:t>
            </a:r>
            <a:r>
              <a:rPr lang="en-US" dirty="0" smtClean="0"/>
              <a:t> and Page) </a:t>
            </a:r>
          </a:p>
          <a:p>
            <a:r>
              <a:rPr lang="en-US" dirty="0" smtClean="0"/>
              <a:t>“Cooperation is most elementary process of social life without which society is impossible” (</a:t>
            </a:r>
            <a:r>
              <a:rPr lang="en-US" dirty="0" err="1" smtClean="0"/>
              <a:t>Gisbert</a:t>
            </a:r>
            <a:r>
              <a:rPr lang="en-US" dirty="0" smtClean="0"/>
              <a:t>, 1957).</a:t>
            </a:r>
          </a:p>
          <a:p>
            <a:pPr>
              <a:buFont typeface="Wingdings" pitchFamily="2" charset="2"/>
              <a:buChar char="Ø"/>
            </a:pPr>
            <a:r>
              <a:rPr lang="en-US" b="1" dirty="0" smtClean="0"/>
              <a:t>It is means of social control</a:t>
            </a:r>
          </a:p>
          <a:p>
            <a:r>
              <a:rPr lang="en-US" dirty="0" smtClean="0"/>
              <a:t>It has various formal as well as informal means of social control. </a:t>
            </a:r>
          </a:p>
          <a:p>
            <a:r>
              <a:rPr lang="en-US" dirty="0" smtClean="0"/>
              <a:t>It means it has customs, traditions, conventions and folkways, mores, manners, etiquettes, laws, legislations, police, court, and other formal or informal means of social control to regulate the behavior of its members.</a:t>
            </a:r>
          </a:p>
          <a:p>
            <a:endParaRPr lang="en-US" dirty="0"/>
          </a:p>
        </p:txBody>
      </p:sp>
    </p:spTree>
  </p:cSld>
  <p:clrMapOvr>
    <a:masterClrMapping/>
  </p:clrMapOvr>
  <p:transition>
    <p:dissolv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buFont typeface="Wingdings" pitchFamily="2" charset="2"/>
              <a:buChar char="Ø"/>
            </a:pPr>
            <a:r>
              <a:rPr lang="en-US" b="1" dirty="0" smtClean="0"/>
              <a:t>It consists of culture</a:t>
            </a:r>
          </a:p>
          <a:p>
            <a:r>
              <a:rPr lang="en-US" dirty="0" smtClean="0"/>
              <a:t>Each society is distinct from others. Every society is unique because it has one way of life, called culture. </a:t>
            </a:r>
          </a:p>
          <a:p>
            <a:pPr>
              <a:buFont typeface="Wingdings" pitchFamily="2" charset="2"/>
              <a:buChar char="Ø"/>
            </a:pPr>
            <a:r>
              <a:rPr lang="en-US" b="1" dirty="0" smtClean="0"/>
              <a:t>Mutual interaction and awareness</a:t>
            </a:r>
          </a:p>
          <a:p>
            <a:r>
              <a:rPr lang="en-US" dirty="0" smtClean="0"/>
              <a:t>It is a group of people in continuous interaction with each other. </a:t>
            </a:r>
          </a:p>
          <a:p>
            <a:r>
              <a:rPr lang="en-US" dirty="0" smtClean="0"/>
              <a:t>Social interaction is made possible because of mutual awareness. </a:t>
            </a:r>
          </a:p>
          <a:p>
            <a:r>
              <a:rPr lang="en-US" dirty="0" smtClean="0"/>
              <a:t>without interaction and awareness (</a:t>
            </a:r>
            <a:r>
              <a:rPr lang="en-US" b="1" dirty="0" smtClean="0"/>
              <a:t>we feelings</a:t>
            </a:r>
            <a:r>
              <a:rPr lang="en-US" dirty="0" smtClean="0"/>
              <a:t>), there are no societies.</a:t>
            </a:r>
          </a:p>
          <a:p>
            <a:endParaRPr lang="en-US" dirty="0"/>
          </a:p>
        </p:txBody>
      </p:sp>
    </p:spTree>
  </p:cSld>
  <p:clrMapOvr>
    <a:masterClrMapping/>
  </p:clrMapOvr>
  <p:transition>
    <p:dissolv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fontAlgn="base">
              <a:buFont typeface="Wingdings" pitchFamily="2" charset="2"/>
              <a:buChar char="Ø"/>
            </a:pPr>
            <a:r>
              <a:rPr lang="en-US" b="1" dirty="0" smtClean="0"/>
              <a:t>Society as a system of stratification:</a:t>
            </a:r>
          </a:p>
          <a:p>
            <a:pPr fontAlgn="base"/>
            <a:r>
              <a:rPr lang="en-US" dirty="0" smtClean="0"/>
              <a:t>Society provides a system of stratification of statuses and classes that each individual has a relatively stable and </a:t>
            </a:r>
            <a:r>
              <a:rPr lang="en-US" dirty="0" err="1" smtClean="0"/>
              <a:t>recognisable</a:t>
            </a:r>
            <a:r>
              <a:rPr lang="en-US" dirty="0" smtClean="0"/>
              <a:t> position in the social structure.</a:t>
            </a:r>
          </a:p>
          <a:p>
            <a:pPr>
              <a:buFont typeface="Wingdings" pitchFamily="2" charset="2"/>
              <a:buChar char="Ø"/>
            </a:pPr>
            <a:r>
              <a:rPr lang="en-US" b="1" dirty="0" smtClean="0"/>
              <a:t>Permanent Nature: </a:t>
            </a:r>
          </a:p>
          <a:p>
            <a:r>
              <a:rPr lang="en-US" dirty="0" smtClean="0"/>
              <a:t>It is not a temporary </a:t>
            </a:r>
            <a:r>
              <a:rPr lang="en-US" dirty="0" err="1" smtClean="0"/>
              <a:t>organisation</a:t>
            </a:r>
            <a:r>
              <a:rPr lang="en-US" dirty="0" smtClean="0"/>
              <a:t> of individuals. Society continues to exist even after the death of individual members. </a:t>
            </a:r>
          </a:p>
          <a:p>
            <a:r>
              <a:rPr lang="en-US" dirty="0" smtClean="0"/>
              <a:t>Society is a co-</a:t>
            </a:r>
            <a:r>
              <a:rPr lang="en-US" dirty="0" err="1" smtClean="0"/>
              <a:t>herent</a:t>
            </a:r>
            <a:r>
              <a:rPr lang="en-US" dirty="0" smtClean="0"/>
              <a:t> </a:t>
            </a:r>
            <a:r>
              <a:rPr lang="en-US" dirty="0" err="1" smtClean="0"/>
              <a:t>organisation</a:t>
            </a:r>
            <a:r>
              <a:rPr lang="en-US" dirty="0" smtClean="0"/>
              <a:t>.</a:t>
            </a:r>
          </a:p>
          <a:p>
            <a:pPr fontAlgn="base"/>
            <a:endParaRPr lang="en-US" dirty="0" smtClean="0"/>
          </a:p>
          <a:p>
            <a:endParaRPr lang="en-US" dirty="0"/>
          </a:p>
        </p:txBody>
      </p:sp>
    </p:spTree>
  </p:cSld>
  <p:clrMapOvr>
    <a:masterClrMapping/>
  </p:clrMapOvr>
  <p:transition>
    <p:dissolv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224</TotalTime>
  <Words>479</Words>
  <Application>Microsoft Office PowerPoint</Application>
  <PresentationFormat>On-screen Show (4:3)</PresentationFormat>
  <Paragraphs>45</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Flow</vt:lpstr>
      <vt:lpstr>Society </vt:lpstr>
      <vt:lpstr>Society </vt:lpstr>
      <vt:lpstr>Characteristics  of Society</vt:lpstr>
      <vt:lpstr>Slide 4</vt:lpstr>
      <vt:lpstr>Slide 5</vt:lpstr>
      <vt:lpstr>Slide 6</vt:lpstr>
      <vt:lpstr>Slide 7</vt:lpstr>
      <vt:lpstr>Slide 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Ashrafil</dc:creator>
  <cp:lastModifiedBy>Uder</cp:lastModifiedBy>
  <cp:revision>48</cp:revision>
  <dcterms:created xsi:type="dcterms:W3CDTF">2017-07-24T14:09:44Z</dcterms:created>
  <dcterms:modified xsi:type="dcterms:W3CDTF">2026-07-01T16:48:34Z</dcterms:modified>
</cp:coreProperties>
</file>
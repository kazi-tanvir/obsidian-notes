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12/2/2023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12/2/2023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Social Problems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problem</a:t>
            </a:r>
            <a:endParaRPr lang="en-US" dirty="0"/>
          </a:p>
        </p:txBody>
      </p:sp>
      <p:sp>
        <p:nvSpPr>
          <p:cNvPr id="3" name="Content Placeholder 2"/>
          <p:cNvSpPr>
            <a:spLocks noGrp="1"/>
          </p:cNvSpPr>
          <p:nvPr>
            <p:ph idx="1"/>
          </p:nvPr>
        </p:nvSpPr>
        <p:spPr/>
        <p:txBody>
          <a:bodyPr/>
          <a:lstStyle/>
          <a:p>
            <a:r>
              <a:rPr lang="en-US" dirty="0" smtClean="0"/>
              <a:t>A social problem is a condition born in a society that is not an ideal situation. </a:t>
            </a:r>
            <a:endParaRPr lang="en-US" dirty="0" smtClean="0"/>
          </a:p>
          <a:p>
            <a:r>
              <a:rPr lang="en-US" dirty="0" smtClean="0"/>
              <a:t>According to </a:t>
            </a:r>
            <a:r>
              <a:rPr lang="en-US" b="1" dirty="0" smtClean="0"/>
              <a:t>Arnold Rose </a:t>
            </a:r>
            <a:r>
              <a:rPr lang="en-US" i="1" dirty="0" smtClean="0"/>
              <a:t>“ A Social Problem may be defined as a situation which has influenced a good majority of people. i.e.., they believe that this situation itself is responsible for their difficulties or displeasures which may be removed”</a:t>
            </a:r>
            <a:endParaRPr lang="en-US"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of social problems</a:t>
            </a:r>
            <a:endParaRPr lang="en-US" dirty="0"/>
          </a:p>
        </p:txBody>
      </p:sp>
      <p:sp>
        <p:nvSpPr>
          <p:cNvPr id="3" name="Content Placeholder 2"/>
          <p:cNvSpPr>
            <a:spLocks noGrp="1"/>
          </p:cNvSpPr>
          <p:nvPr>
            <p:ph idx="1"/>
          </p:nvPr>
        </p:nvSpPr>
        <p:spPr/>
        <p:txBody>
          <a:bodyPr>
            <a:normAutofit/>
          </a:bodyPr>
          <a:lstStyle/>
          <a:p>
            <a:r>
              <a:rPr lang="en-US" dirty="0" smtClean="0"/>
              <a:t>Social problems are originated from society</a:t>
            </a:r>
          </a:p>
          <a:p>
            <a:r>
              <a:rPr lang="en-US" dirty="0" smtClean="0"/>
              <a:t>Social problems are deviation from the ideal situation</a:t>
            </a:r>
          </a:p>
          <a:p>
            <a:r>
              <a:rPr lang="en-US" dirty="0" smtClean="0"/>
              <a:t>Social problems have consequences for society</a:t>
            </a:r>
          </a:p>
          <a:p>
            <a:r>
              <a:rPr lang="en-US" dirty="0" smtClean="0"/>
              <a:t>Social problems are interconnected</a:t>
            </a:r>
          </a:p>
          <a:p>
            <a:r>
              <a:rPr lang="en-US" dirty="0" smtClean="0"/>
              <a:t>Most of the people are affected by the Social problems </a:t>
            </a:r>
          </a:p>
          <a:p>
            <a:r>
              <a:rPr lang="en-US" dirty="0" smtClean="0"/>
              <a:t>It has material and non-material aspects</a:t>
            </a:r>
          </a:p>
          <a:p>
            <a:r>
              <a:rPr lang="en-US" dirty="0" smtClean="0"/>
              <a:t>Social problems occur in all societies</a:t>
            </a:r>
          </a:p>
          <a:p>
            <a:r>
              <a:rPr lang="en-US" dirty="0" smtClean="0"/>
              <a:t>Social problems vary from society to society</a:t>
            </a:r>
          </a:p>
          <a:p>
            <a:r>
              <a:rPr lang="en-US" dirty="0" smtClean="0"/>
              <a:t>People are concerned about social problems </a:t>
            </a:r>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Social problems are dynamic</a:t>
            </a:r>
          </a:p>
          <a:p>
            <a:r>
              <a:rPr lang="en-US" dirty="0" smtClean="0"/>
              <a:t>Social problems are relative</a:t>
            </a:r>
          </a:p>
          <a:p>
            <a:r>
              <a:rPr lang="en-US" dirty="0" smtClean="0"/>
              <a:t>Social problems can be solved with collective effort of the people. </a:t>
            </a:r>
          </a:p>
          <a:p>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r>
              <a:rPr lang="hr-HR" b="1" dirty="0" smtClean="0"/>
              <a:t>Crime</a:t>
            </a:r>
            <a:endParaRPr lang="en-US" dirty="0"/>
          </a:p>
        </p:txBody>
      </p:sp>
      <p:sp>
        <p:nvSpPr>
          <p:cNvPr id="3" name="Content Placeholder 2"/>
          <p:cNvSpPr>
            <a:spLocks noGrp="1"/>
          </p:cNvSpPr>
          <p:nvPr>
            <p:ph idx="1"/>
          </p:nvPr>
        </p:nvSpPr>
        <p:spPr/>
        <p:txBody>
          <a:bodyPr/>
          <a:lstStyle/>
          <a:p>
            <a:pPr>
              <a:defRPr/>
            </a:pPr>
            <a:r>
              <a:rPr lang="hr-HR" b="1" dirty="0" smtClean="0"/>
              <a:t>Crime: </a:t>
            </a:r>
            <a:r>
              <a:rPr lang="hr-HR" dirty="0" smtClean="0"/>
              <a:t>offence against community, punishable by the State</a:t>
            </a:r>
          </a:p>
          <a:p>
            <a:pPr>
              <a:defRPr/>
            </a:pPr>
            <a:r>
              <a:rPr lang="hr-HR" dirty="0" smtClean="0"/>
              <a:t>An illegal act which may result in prosecution and punishment by the state</a:t>
            </a:r>
          </a:p>
          <a:p>
            <a:r>
              <a:rPr lang="hr-HR" i="1" dirty="0" smtClean="0"/>
              <a:t>A </a:t>
            </a:r>
            <a:r>
              <a:rPr lang="hr-HR" b="1" i="1" dirty="0" smtClean="0"/>
              <a:t>crime</a:t>
            </a:r>
            <a:r>
              <a:rPr lang="hr-HR" i="1" dirty="0" smtClean="0"/>
              <a:t> is any act or omission (of an act) that violates the law and is punishable by the state. Crimes are considered injurious to society or the community.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definition of crime</a:t>
            </a:r>
            <a:endParaRPr lang="en-US" dirty="0"/>
          </a:p>
        </p:txBody>
      </p:sp>
      <p:sp>
        <p:nvSpPr>
          <p:cNvPr id="3" name="Content Placeholder 2"/>
          <p:cNvSpPr>
            <a:spLocks noGrp="1"/>
          </p:cNvSpPr>
          <p:nvPr>
            <p:ph idx="1"/>
          </p:nvPr>
        </p:nvSpPr>
        <p:spPr>
          <a:xfrm>
            <a:off x="457200" y="1935480"/>
            <a:ext cx="8229600" cy="4693920"/>
          </a:xfrm>
        </p:spPr>
        <p:txBody>
          <a:bodyPr>
            <a:normAutofit lnSpcReduction="10000"/>
          </a:bodyPr>
          <a:lstStyle/>
          <a:p>
            <a:r>
              <a:rPr lang="en-US" b="1" dirty="0" smtClean="0"/>
              <a:t>Mower(1959)</a:t>
            </a:r>
            <a:r>
              <a:rPr lang="en-US" dirty="0" smtClean="0"/>
              <a:t>has defined crime as </a:t>
            </a:r>
            <a:r>
              <a:rPr lang="en-US" i="1" dirty="0" smtClean="0"/>
              <a:t>“as anti-social act”.</a:t>
            </a:r>
          </a:p>
          <a:p>
            <a:r>
              <a:rPr lang="en-US" b="1" dirty="0" smtClean="0"/>
              <a:t>Caldwell</a:t>
            </a:r>
            <a:r>
              <a:rPr lang="en-US" dirty="0" smtClean="0"/>
              <a:t>-</a:t>
            </a:r>
            <a:r>
              <a:rPr lang="en-US" i="1" dirty="0" smtClean="0"/>
              <a:t>an act or a failure to act that is considered to be so detrimental to the well-being of a society, as judged by its prevailing standards. </a:t>
            </a:r>
          </a:p>
          <a:p>
            <a:r>
              <a:rPr lang="en-US" b="1" dirty="0" smtClean="0"/>
              <a:t>Thorsten </a:t>
            </a:r>
            <a:r>
              <a:rPr lang="en-US" b="1" dirty="0" err="1" smtClean="0"/>
              <a:t>Sellin</a:t>
            </a:r>
            <a:r>
              <a:rPr lang="en-US" b="1" dirty="0" smtClean="0"/>
              <a:t>- </a:t>
            </a:r>
            <a:r>
              <a:rPr lang="en-US" i="1" dirty="0" smtClean="0"/>
              <a:t>“Violation of conduct norms of the normative group.”</a:t>
            </a:r>
          </a:p>
          <a:p>
            <a:r>
              <a:rPr lang="en-US" b="1" dirty="0" err="1" smtClean="0"/>
              <a:t>Nisbet</a:t>
            </a:r>
            <a:r>
              <a:rPr lang="en-US" dirty="0" smtClean="0"/>
              <a:t>-</a:t>
            </a:r>
            <a:r>
              <a:rPr lang="en-US" i="1" dirty="0" smtClean="0"/>
              <a:t>Crimes are the activities which threaten social order, offend morality, and endanger person or property.</a:t>
            </a:r>
          </a:p>
          <a:p>
            <a:r>
              <a:rPr lang="en-US" b="1" dirty="0" err="1" smtClean="0"/>
              <a:t>Clinard</a:t>
            </a:r>
            <a:r>
              <a:rPr lang="en-US" b="1" dirty="0" smtClean="0"/>
              <a:t>, </a:t>
            </a:r>
            <a:r>
              <a:rPr lang="en-US" b="1" dirty="0" err="1" smtClean="0"/>
              <a:t>Merton,Matza</a:t>
            </a:r>
            <a:r>
              <a:rPr lang="en-US" b="1" dirty="0" smtClean="0"/>
              <a:t>-</a:t>
            </a:r>
            <a:r>
              <a:rPr lang="en-US" i="1" dirty="0" smtClean="0"/>
              <a:t>Crime as an action which is dysfunctional to society as well as an individual</a:t>
            </a:r>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Legal definition of crime</a:t>
            </a:r>
            <a:endParaRPr lang="en-US" dirty="0"/>
          </a:p>
        </p:txBody>
      </p:sp>
      <p:sp>
        <p:nvSpPr>
          <p:cNvPr id="3" name="Content Placeholder 2"/>
          <p:cNvSpPr>
            <a:spLocks noGrp="1"/>
          </p:cNvSpPr>
          <p:nvPr>
            <p:ph idx="1"/>
          </p:nvPr>
        </p:nvSpPr>
        <p:spPr/>
        <p:txBody>
          <a:bodyPr>
            <a:normAutofit/>
          </a:bodyPr>
          <a:lstStyle/>
          <a:p>
            <a:r>
              <a:rPr lang="en-US" dirty="0" smtClean="0"/>
              <a:t>A crime is an act committed or omitted, in violation of a public law, either forbidding or commanding it; a breach or violation of some public right or duty. </a:t>
            </a:r>
          </a:p>
          <a:p>
            <a:r>
              <a:rPr lang="en-US" b="1" dirty="0" smtClean="0"/>
              <a:t>Sutherland</a:t>
            </a:r>
            <a:r>
              <a:rPr lang="en-US" dirty="0" smtClean="0"/>
              <a:t>- </a:t>
            </a:r>
            <a:r>
              <a:rPr lang="en-US" i="1" dirty="0" smtClean="0"/>
              <a:t>crime is anti-law activities. If there is no law, there is no crime.</a:t>
            </a:r>
          </a:p>
          <a:p>
            <a:r>
              <a:rPr lang="en-US" b="1" dirty="0" err="1" smtClean="0"/>
              <a:t>J.M.Shepard</a:t>
            </a:r>
            <a:r>
              <a:rPr lang="en-US" b="1" dirty="0" smtClean="0"/>
              <a:t>-</a:t>
            </a:r>
            <a:r>
              <a:rPr lang="en-US" i="1" dirty="0" smtClean="0"/>
              <a:t>crimes are acts that are violation of the law.</a:t>
            </a:r>
          </a:p>
          <a:p>
            <a:r>
              <a:rPr lang="en-US" b="1" dirty="0" err="1" smtClean="0"/>
              <a:t>Popenoe</a:t>
            </a:r>
            <a:r>
              <a:rPr lang="en-US" b="1" dirty="0" smtClean="0"/>
              <a:t>-</a:t>
            </a:r>
            <a:r>
              <a:rPr lang="en-US" dirty="0" smtClean="0"/>
              <a:t> </a:t>
            </a:r>
            <a:r>
              <a:rPr lang="en-US" i="1" dirty="0" smtClean="0"/>
              <a:t>crime is a </a:t>
            </a:r>
            <a:r>
              <a:rPr lang="en-US" i="1" dirty="0" err="1" smtClean="0"/>
              <a:t>behaviour</a:t>
            </a:r>
            <a:r>
              <a:rPr lang="en-US" i="1" dirty="0" smtClean="0"/>
              <a:t> that is prohibited by governmental authority and that can be punished through the application of formal sanctions.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i="1" dirty="0" smtClean="0"/>
              <a:t>Robertson</a:t>
            </a:r>
            <a:r>
              <a:rPr lang="en-US" i="1" dirty="0" smtClean="0"/>
              <a:t>-crime is an act that has been prohibited by a political authority, usually through the enactment of a law.</a:t>
            </a:r>
          </a:p>
          <a:p>
            <a:r>
              <a:rPr lang="en-US" b="1" i="1" dirty="0" smtClean="0"/>
              <a:t>Hall Jerome</a:t>
            </a:r>
            <a:r>
              <a:rPr lang="en-US" i="1" dirty="0" smtClean="0"/>
              <a:t>-legally forbidden and intentional action which has a legally prescribed punishment for it. </a:t>
            </a:r>
          </a:p>
          <a:p>
            <a:r>
              <a:rPr lang="en-US" b="1" i="1" dirty="0" smtClean="0"/>
              <a:t>The Oxford English Dictionary </a:t>
            </a:r>
            <a:r>
              <a:rPr lang="en-US" i="1" dirty="0" smtClean="0"/>
              <a:t>- crime simply as: ‘An action or omission which constitutes an offence and is punishable by law’. </a:t>
            </a:r>
          </a:p>
          <a:p>
            <a:r>
              <a:rPr lang="en-US" b="1" i="1" dirty="0" smtClean="0"/>
              <a:t>Blackstone, (1968) </a:t>
            </a:r>
            <a:r>
              <a:rPr lang="en-US" i="1" dirty="0" smtClean="0"/>
              <a:t>- crime as </a:t>
            </a:r>
            <a:r>
              <a:rPr lang="en-US" b="1" i="1" dirty="0" smtClean="0"/>
              <a:t>“</a:t>
            </a:r>
            <a:r>
              <a:rPr lang="en-US" i="1" dirty="0" smtClean="0"/>
              <a:t>an act committed or omitted in violation of a public law either forbidding or commanding it”.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Features </a:t>
            </a:r>
            <a:r>
              <a:rPr lang="en-US" dirty="0" smtClean="0"/>
              <a:t>of Crime</a:t>
            </a:r>
            <a:endParaRPr lang="en-US" dirty="0"/>
          </a:p>
        </p:txBody>
      </p:sp>
      <p:sp>
        <p:nvSpPr>
          <p:cNvPr id="3" name="Content Placeholder 2"/>
          <p:cNvSpPr>
            <a:spLocks noGrp="1"/>
          </p:cNvSpPr>
          <p:nvPr>
            <p:ph idx="1"/>
          </p:nvPr>
        </p:nvSpPr>
        <p:spPr/>
        <p:txBody>
          <a:bodyPr>
            <a:normAutofit lnSpcReduction="10000"/>
          </a:bodyPr>
          <a:lstStyle/>
          <a:p>
            <a:r>
              <a:rPr lang="en-US" dirty="0" smtClean="0"/>
              <a:t>Crime is a relative term</a:t>
            </a:r>
          </a:p>
          <a:p>
            <a:r>
              <a:rPr lang="en-US" dirty="0" smtClean="0"/>
              <a:t>Reflection of deviant </a:t>
            </a:r>
            <a:r>
              <a:rPr lang="en-US" dirty="0" err="1" smtClean="0"/>
              <a:t>behaviour</a:t>
            </a:r>
            <a:endParaRPr lang="en-US" dirty="0" smtClean="0"/>
          </a:p>
          <a:p>
            <a:r>
              <a:rPr lang="en-US" dirty="0" smtClean="0"/>
              <a:t>The </a:t>
            </a:r>
            <a:r>
              <a:rPr lang="en-US" dirty="0" err="1" smtClean="0"/>
              <a:t>behaviour</a:t>
            </a:r>
            <a:r>
              <a:rPr lang="en-US" dirty="0" smtClean="0"/>
              <a:t> must be harmful</a:t>
            </a:r>
          </a:p>
          <a:p>
            <a:r>
              <a:rPr lang="en-US" dirty="0" smtClean="0"/>
              <a:t>Harmful for social stability and solidarity</a:t>
            </a:r>
          </a:p>
          <a:p>
            <a:r>
              <a:rPr lang="en-US" dirty="0" smtClean="0"/>
              <a:t>Socially and legally forbidden</a:t>
            </a:r>
          </a:p>
          <a:p>
            <a:r>
              <a:rPr lang="en-US" dirty="0" smtClean="0"/>
              <a:t>Related to social structure</a:t>
            </a:r>
          </a:p>
          <a:p>
            <a:r>
              <a:rPr lang="en-US" dirty="0" smtClean="0"/>
              <a:t>Result of social interaction and socialization</a:t>
            </a:r>
          </a:p>
          <a:p>
            <a:r>
              <a:rPr lang="en-US" dirty="0" smtClean="0"/>
              <a:t>Unexpected and disgraceful act </a:t>
            </a:r>
          </a:p>
          <a:p>
            <a:r>
              <a:rPr lang="en-US" dirty="0" smtClean="0"/>
              <a:t>Criminal intent and conduct</a:t>
            </a:r>
          </a:p>
          <a:p>
            <a:r>
              <a:rPr lang="en-US" dirty="0" smtClean="0"/>
              <a:t>Legally Punishable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Crime</a:t>
            </a:r>
            <a:endParaRPr lang="en-US" dirty="0"/>
          </a:p>
        </p:txBody>
      </p:sp>
      <p:sp>
        <p:nvSpPr>
          <p:cNvPr id="3" name="Content Placeholder 2"/>
          <p:cNvSpPr>
            <a:spLocks noGrp="1"/>
          </p:cNvSpPr>
          <p:nvPr>
            <p:ph idx="1"/>
          </p:nvPr>
        </p:nvSpPr>
        <p:spPr>
          <a:xfrm>
            <a:off x="457200" y="1905000"/>
            <a:ext cx="8229600" cy="4953000"/>
          </a:xfrm>
        </p:spPr>
        <p:txBody>
          <a:bodyPr>
            <a:normAutofit lnSpcReduction="10000"/>
          </a:bodyPr>
          <a:lstStyle/>
          <a:p>
            <a:pPr>
              <a:buNone/>
            </a:pPr>
            <a:r>
              <a:rPr lang="en-US" b="1" dirty="0" smtClean="0"/>
              <a:t>1. Crimes Against Persons </a:t>
            </a:r>
            <a:r>
              <a:rPr lang="en-US" dirty="0" smtClean="0"/>
              <a:t>• murder, assault, rape.</a:t>
            </a:r>
          </a:p>
          <a:p>
            <a:pPr>
              <a:buNone/>
            </a:pPr>
            <a:r>
              <a:rPr lang="en-US" b="1" dirty="0" smtClean="0"/>
              <a:t>2. Crimes Against Property </a:t>
            </a:r>
            <a:r>
              <a:rPr lang="en-US" dirty="0" smtClean="0"/>
              <a:t>• burglary, larceny, auto theft, and arson.</a:t>
            </a:r>
          </a:p>
          <a:p>
            <a:pPr>
              <a:buNone/>
            </a:pPr>
            <a:r>
              <a:rPr lang="en-US" b="1" dirty="0" smtClean="0"/>
              <a:t>3. White-Collar Crime </a:t>
            </a:r>
            <a:r>
              <a:rPr lang="en-US" dirty="0" smtClean="0"/>
              <a:t>• White-collar crimes are crimes that committed by people of high social status . embezzling (stealing money from one’s employer), insider trading, and tax evasion and other violations of income tax laws.</a:t>
            </a:r>
          </a:p>
          <a:p>
            <a:pPr>
              <a:buNone/>
            </a:pPr>
            <a:r>
              <a:rPr lang="en-US" b="1" dirty="0" smtClean="0"/>
              <a:t>4. Organized Crime </a:t>
            </a:r>
            <a:r>
              <a:rPr lang="en-US" dirty="0" smtClean="0"/>
              <a:t>• Organized crime is crime committed by structured groups.  drug trade, illegal gambling, prostitution, weapons smuggling, or money laundering</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47800"/>
            <a:ext cx="8229600" cy="5410200"/>
          </a:xfrm>
        </p:spPr>
        <p:txBody>
          <a:bodyPr>
            <a:normAutofit/>
          </a:bodyPr>
          <a:lstStyle/>
          <a:p>
            <a:pPr>
              <a:buNone/>
            </a:pPr>
            <a:r>
              <a:rPr lang="en-US" b="1" dirty="0" smtClean="0"/>
              <a:t>5. Political crime</a:t>
            </a:r>
            <a:r>
              <a:rPr lang="en-US" dirty="0" smtClean="0"/>
              <a:t>: Corruption, providing tender to close one, forcibly collection of donation, threaten to different people in the name of political parties or political leader.</a:t>
            </a:r>
          </a:p>
          <a:p>
            <a:pPr>
              <a:buNone/>
            </a:pPr>
            <a:r>
              <a:rPr lang="en-US" b="1" dirty="0" smtClean="0"/>
              <a:t>6. Cyber Crime</a:t>
            </a:r>
            <a:r>
              <a:rPr lang="en-US" dirty="0" smtClean="0"/>
              <a:t>: related with computer and Internet’s virtual world. Hacking various web sites and others innovations, trying to open others email ,use computer to harm others, uploading new movies or songs or documentary without permission of copyright opening email id on others name are some of the examples of cyber crime.</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1935480"/>
            <a:ext cx="8534400" cy="4389120"/>
          </a:xfrm>
        </p:spPr>
        <p:txBody>
          <a:bodyPr>
            <a:normAutofit/>
          </a:bodyPr>
          <a:lstStyle/>
          <a:p>
            <a:pPr lvl="1">
              <a:lnSpc>
                <a:spcPct val="90000"/>
              </a:lnSpc>
              <a:buNone/>
            </a:pPr>
            <a:r>
              <a:rPr lang="en-US" b="1" dirty="0" smtClean="0"/>
              <a:t>7. Crimes Against Morality </a:t>
            </a:r>
            <a:r>
              <a:rPr lang="en-US" dirty="0" smtClean="0"/>
              <a:t>• Crimes against morality are also called victimless crimes because there is not complainant, or victim. Prostitution, illegal gambling, and illegal drug </a:t>
            </a:r>
          </a:p>
          <a:p>
            <a:pPr lvl="1">
              <a:lnSpc>
                <a:spcPct val="90000"/>
              </a:lnSpc>
              <a:buNone/>
            </a:pPr>
            <a:r>
              <a:rPr lang="en-US" b="1" dirty="0" smtClean="0"/>
              <a:t>8</a:t>
            </a:r>
            <a:r>
              <a:rPr lang="en-US" b="1" dirty="0" smtClean="0"/>
              <a:t>. Hate crime </a:t>
            </a:r>
            <a:r>
              <a:rPr lang="en-US" dirty="0" smtClean="0"/>
              <a:t>is the term used to describe an incident or crime against someone based on a part of their identity. Hate crimes are committed while invoking prejudices of race, gender or gender identity, religion, disability, sexual orientation, or ethnicity.</a:t>
            </a:r>
          </a:p>
          <a:p>
            <a:pPr lvl="1">
              <a:lnSpc>
                <a:spcPct val="90000"/>
              </a:lnSpc>
              <a:buNone/>
            </a:pPr>
            <a:r>
              <a:rPr lang="en-US" b="1" dirty="0" smtClean="0"/>
              <a:t>9. A violent crime </a:t>
            </a:r>
            <a:r>
              <a:rPr lang="en-US" dirty="0" smtClean="0"/>
              <a:t>is when someone physically hurts or threatens to hurt someone, and also includes crimes where a weapon is used.</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10. Victimless crime-</a:t>
            </a:r>
            <a:r>
              <a:rPr lang="en-US" dirty="0" smtClean="0"/>
              <a:t> is an act that is illegal but has no direct victim. the parties involved are voluntarily acting.  the parties may be consenting adults. prostitution, illegal drug use and of course, gambling.</a:t>
            </a:r>
          </a:p>
          <a:p>
            <a:pPr>
              <a:buNone/>
            </a:pPr>
            <a:r>
              <a:rPr lang="en-US" b="1" dirty="0" smtClean="0"/>
              <a:t>11. Environmental crime</a:t>
            </a:r>
          </a:p>
          <a:p>
            <a:pPr>
              <a:buNone/>
            </a:pPr>
            <a:r>
              <a:rPr lang="en-US" b="1" dirty="0" smtClean="0"/>
              <a:t>12. Crime against humanity</a:t>
            </a:r>
          </a:p>
          <a:p>
            <a:pPr>
              <a:buNone/>
            </a:pPr>
            <a:r>
              <a:rPr lang="en-US" b="1" dirty="0" smtClean="0"/>
              <a:t>13. Juvenile delinquency</a:t>
            </a:r>
          </a:p>
          <a:p>
            <a:endParaRPr lang="en-US" b="1"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a:t>
            </a:r>
            <a:endParaRPr lang="en-US" dirty="0"/>
          </a:p>
        </p:txBody>
      </p:sp>
      <p:sp>
        <p:nvSpPr>
          <p:cNvPr id="3" name="Content Placeholder 2"/>
          <p:cNvSpPr>
            <a:spLocks noGrp="1"/>
          </p:cNvSpPr>
          <p:nvPr>
            <p:ph idx="1"/>
          </p:nvPr>
        </p:nvSpPr>
        <p:spPr/>
        <p:txBody>
          <a:bodyPr/>
          <a:lstStyle/>
          <a:p>
            <a:r>
              <a:rPr lang="en-US" dirty="0" smtClean="0"/>
              <a:t>1.physical structure</a:t>
            </a:r>
          </a:p>
          <a:p>
            <a:r>
              <a:rPr lang="en-US" dirty="0" smtClean="0"/>
              <a:t>2.psychological causes</a:t>
            </a:r>
          </a:p>
          <a:p>
            <a:r>
              <a:rPr lang="en-US" dirty="0" smtClean="0"/>
              <a:t>3.economic causes</a:t>
            </a:r>
          </a:p>
          <a:p>
            <a:r>
              <a:rPr lang="en-US" dirty="0" smtClean="0"/>
              <a:t>4.geographic and natural environment</a:t>
            </a:r>
          </a:p>
          <a:p>
            <a:r>
              <a:rPr lang="en-US" dirty="0" smtClean="0"/>
              <a:t>5.social and surrounding environment</a:t>
            </a:r>
          </a:p>
          <a:p>
            <a:r>
              <a:rPr lang="en-US" dirty="0" smtClean="0"/>
              <a:t>6.political causes.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err="1" smtClean="0"/>
              <a:t>Wayout</a:t>
            </a:r>
            <a:endParaRPr lang="en-US" dirty="0"/>
          </a:p>
        </p:txBody>
      </p:sp>
      <p:sp>
        <p:nvSpPr>
          <p:cNvPr id="3" name="Content Placeholder 2"/>
          <p:cNvSpPr>
            <a:spLocks noGrp="1"/>
          </p:cNvSpPr>
          <p:nvPr>
            <p:ph idx="1"/>
          </p:nvPr>
        </p:nvSpPr>
        <p:spPr/>
        <p:txBody>
          <a:bodyPr/>
          <a:lstStyle/>
          <a:p>
            <a:r>
              <a:rPr lang="en-US" dirty="0" smtClean="0"/>
              <a:t>1.proper treatment and rehabilitation for physically disabled persons</a:t>
            </a:r>
          </a:p>
          <a:p>
            <a:r>
              <a:rPr lang="en-US" dirty="0" smtClean="0"/>
              <a:t>2.fulfillment of the basic human needs</a:t>
            </a:r>
          </a:p>
          <a:p>
            <a:r>
              <a:rPr lang="en-US" dirty="0" smtClean="0"/>
              <a:t>3.educating social values and norms</a:t>
            </a:r>
          </a:p>
          <a:p>
            <a:r>
              <a:rPr lang="en-US" dirty="0" smtClean="0"/>
              <a:t>4.ensuring proper distribution of wealth and resources</a:t>
            </a:r>
          </a:p>
          <a:p>
            <a:r>
              <a:rPr lang="en-US" dirty="0" smtClean="0"/>
              <a:t>5.reducing social discrimination</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6.introducing moral education</a:t>
            </a:r>
          </a:p>
          <a:p>
            <a:r>
              <a:rPr lang="en-US" dirty="0" smtClean="0"/>
              <a:t>7.ensuring transparency in politics</a:t>
            </a:r>
          </a:p>
          <a:p>
            <a:r>
              <a:rPr lang="en-US" dirty="0" smtClean="0"/>
              <a:t>8.strengthening probation and parole system</a:t>
            </a:r>
          </a:p>
          <a:p>
            <a:r>
              <a:rPr lang="en-US" dirty="0" smtClean="0"/>
              <a:t>9.reform in the present criminal justice system</a:t>
            </a:r>
          </a:p>
          <a:p>
            <a:r>
              <a:rPr lang="en-US" dirty="0" smtClean="0"/>
              <a:t>10.proper use of law enforcing agency.</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42</TotalTime>
  <Words>718</Words>
  <Application>Microsoft Office PowerPoint</Application>
  <PresentationFormat>On-screen Show (4:3)</PresentationFormat>
  <Paragraphs>79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Flow</vt:lpstr>
      <vt:lpstr>Social Problems</vt:lpstr>
      <vt:lpstr>Social  problem</vt:lpstr>
      <vt:lpstr>Feature of social problems</vt:lpstr>
      <vt:lpstr>Slide 4</vt:lpstr>
      <vt:lpstr>Crime</vt:lpstr>
      <vt:lpstr>Social definition of crime</vt:lpstr>
      <vt:lpstr>Legal definition of crime</vt:lpstr>
      <vt:lpstr>Slide 8</vt:lpstr>
      <vt:lpstr>Features of Crime</vt:lpstr>
      <vt:lpstr>Types of Crime</vt:lpstr>
      <vt:lpstr>Slide 11</vt:lpstr>
      <vt:lpstr>Slide 12</vt:lpstr>
      <vt:lpstr>Slide 13</vt:lpstr>
      <vt:lpstr>Causes</vt:lpstr>
      <vt:lpstr>Wayout</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10</cp:revision>
  <dcterms:created xsi:type="dcterms:W3CDTF">2006-08-16T00:00:00Z</dcterms:created>
  <dcterms:modified xsi:type="dcterms:W3CDTF">2023-12-02T13:41:38Z</dcterms:modified>
</cp:coreProperties>
</file>
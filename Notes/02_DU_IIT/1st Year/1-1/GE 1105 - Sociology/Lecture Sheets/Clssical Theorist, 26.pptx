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77" r:id="rId3"/>
    <p:sldId id="293" r:id="rId4"/>
    <p:sldId id="294" r:id="rId5"/>
    <p:sldId id="278" r:id="rId6"/>
    <p:sldId id="261" r:id="rId7"/>
    <p:sldId id="295" r:id="rId8"/>
    <p:sldId id="262" r:id="rId9"/>
    <p:sldId id="263" r:id="rId10"/>
    <p:sldId id="264" r:id="rId11"/>
    <p:sldId id="265" r:id="rId12"/>
    <p:sldId id="266" r:id="rId13"/>
    <p:sldId id="268" r:id="rId14"/>
    <p:sldId id="269" r:id="rId15"/>
    <p:sldId id="279" r:id="rId16"/>
    <p:sldId id="280" r:id="rId17"/>
    <p:sldId id="296" r:id="rId18"/>
    <p:sldId id="297" r:id="rId19"/>
    <p:sldId id="298" r:id="rId20"/>
    <p:sldId id="299" r:id="rId21"/>
    <p:sldId id="300" r:id="rId22"/>
    <p:sldId id="272" r:id="rId23"/>
    <p:sldId id="271" r:id="rId24"/>
    <p:sldId id="287" r:id="rId25"/>
    <p:sldId id="286" r:id="rId26"/>
    <p:sldId id="273" r:id="rId27"/>
    <p:sldId id="274" r:id="rId28"/>
    <p:sldId id="275" r:id="rId29"/>
    <p:sldId id="276" r:id="rId30"/>
    <p:sldId id="301"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86" d="100"/>
          <a:sy n="86" d="100"/>
        </p:scale>
        <p:origin x="-1092"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D8BD707-D9CF-40AE-B4C6-C98DA3205C09}" type="datetimeFigureOut">
              <a:rPr lang="en-US" smtClean="0"/>
              <a:pPr/>
              <a:t>6/21/2026</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6/21/2026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6/21/2026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pPr/>
              <a:t>6/21/2026</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Classical Theorists</a:t>
            </a:r>
            <a:endParaRPr lang="en-US" dirty="0"/>
          </a:p>
        </p:txBody>
      </p:sp>
      <p:sp>
        <p:nvSpPr>
          <p:cNvPr id="3" name="Subtitle 2"/>
          <p:cNvSpPr>
            <a:spLocks noGrp="1"/>
          </p:cNvSpPr>
          <p:nvPr>
            <p:ph type="subTitle" idx="1"/>
          </p:nvPr>
        </p:nvSpPr>
        <p:spPr/>
        <p:txBody>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August Comte</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Born January 19, 1798, in France, died September 5, 1857, Paris. </a:t>
            </a:r>
          </a:p>
          <a:p>
            <a:r>
              <a:rPr lang="en-US" dirty="0" smtClean="0"/>
              <a:t>He was a school dropout but still considered as a father of sociology.</a:t>
            </a:r>
          </a:p>
          <a:p>
            <a:r>
              <a:rPr lang="en-US" dirty="0" smtClean="0"/>
              <a:t>Lived during the French Revolution and believed his philosophy would bring stability to the world;</a:t>
            </a:r>
          </a:p>
          <a:p>
            <a:r>
              <a:rPr lang="en-US" dirty="0" smtClean="0"/>
              <a:t>Believed sociologists should use the scientific methods to uncover the laws that govern the operation of society;</a:t>
            </a:r>
          </a:p>
          <a:p>
            <a:r>
              <a:rPr lang="en-US" b="1" dirty="0" smtClean="0"/>
              <a:t>Comte wanted</a:t>
            </a:r>
            <a:r>
              <a:rPr lang="en-US" dirty="0" smtClean="0"/>
              <a:t> to use </a:t>
            </a:r>
            <a:r>
              <a:rPr lang="en-US" dirty="0" err="1" smtClean="0"/>
              <a:t>scientiﬁc</a:t>
            </a:r>
            <a:r>
              <a:rPr lang="en-US" dirty="0" smtClean="0"/>
              <a:t> observation to study social behavior </a:t>
            </a:r>
          </a:p>
          <a:p>
            <a:r>
              <a:rPr lang="en-US" dirty="0" smtClean="0"/>
              <a:t>He also distinguished between studying social stability and order (social statics) and study of social change (social dynamics)</a:t>
            </a:r>
          </a:p>
          <a:p>
            <a:endParaRPr lang="en-US" dirty="0" smtClean="0"/>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Social Statics</a:t>
            </a:r>
            <a:endParaRPr lang="en-US" dirty="0"/>
          </a:p>
        </p:txBody>
      </p:sp>
      <p:sp>
        <p:nvSpPr>
          <p:cNvPr id="3" name="Content Placeholder 2"/>
          <p:cNvSpPr>
            <a:spLocks noGrp="1"/>
          </p:cNvSpPr>
          <p:nvPr>
            <p:ph idx="1"/>
          </p:nvPr>
        </p:nvSpPr>
        <p:spPr/>
        <p:txBody>
          <a:bodyPr>
            <a:normAutofit lnSpcReduction="10000"/>
          </a:bodyPr>
          <a:lstStyle/>
          <a:p>
            <a:r>
              <a:rPr lang="en-US" dirty="0" smtClean="0"/>
              <a:t>Social Statics </a:t>
            </a:r>
            <a:r>
              <a:rPr lang="en-US" sz="2400" dirty="0" smtClean="0"/>
              <a:t>describes the processes by which the overall structure of a society remains relatively stable, or unchanged, over time.</a:t>
            </a:r>
          </a:p>
          <a:p>
            <a:r>
              <a:rPr lang="en-US" sz="2400" dirty="0" smtClean="0"/>
              <a:t>It is concerned with the present structure of the society. </a:t>
            </a:r>
          </a:p>
          <a:p>
            <a:r>
              <a:rPr lang="en-US" sz="2400" dirty="0" smtClean="0"/>
              <a:t>It studies the issues of social stability and social order.</a:t>
            </a:r>
          </a:p>
          <a:p>
            <a:r>
              <a:rPr lang="en-US" sz="2400" dirty="0" smtClean="0"/>
              <a:t>It studies the current laws, rules and present conditions of the society. </a:t>
            </a:r>
          </a:p>
          <a:p>
            <a:r>
              <a:rPr lang="en-US" dirty="0" smtClean="0"/>
              <a:t>It observes how these laws and rules are affecting the present society. </a:t>
            </a:r>
          </a:p>
          <a:p>
            <a:r>
              <a:rPr lang="en-US" dirty="0" smtClean="0"/>
              <a:t>It investigates the law of action and reaction of the different parts of the social system. </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It is concerned with the study of major institutions, which preserve the social order. </a:t>
            </a:r>
          </a:p>
          <a:p>
            <a:r>
              <a:rPr lang="en-US" dirty="0" smtClean="0"/>
              <a:t>For example, family; it occupies an important position in social structure. It provides the base for the social order and progress of the society. </a:t>
            </a:r>
          </a:p>
          <a:p>
            <a:r>
              <a:rPr lang="en-US" dirty="0" smtClean="0"/>
              <a:t>Individual, family and social combinations are three levels of society. Family is the smallest and basic unit of sociology.</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838200"/>
          </a:xfrm>
        </p:spPr>
        <p:txBody>
          <a:bodyPr/>
          <a:lstStyle/>
          <a:p>
            <a:r>
              <a:rPr lang="en-US" dirty="0" smtClean="0"/>
              <a:t>Social Dynamics</a:t>
            </a:r>
            <a:endParaRPr lang="en-US" dirty="0"/>
          </a:p>
        </p:txBody>
      </p:sp>
      <p:sp>
        <p:nvSpPr>
          <p:cNvPr id="3" name="Content Placeholder 2"/>
          <p:cNvSpPr>
            <a:spLocks noGrp="1"/>
          </p:cNvSpPr>
          <p:nvPr>
            <p:ph idx="1"/>
          </p:nvPr>
        </p:nvSpPr>
        <p:spPr>
          <a:xfrm>
            <a:off x="457200" y="1524000"/>
            <a:ext cx="8229600" cy="4800600"/>
          </a:xfrm>
        </p:spPr>
        <p:txBody>
          <a:bodyPr/>
          <a:lstStyle/>
          <a:p>
            <a:r>
              <a:rPr lang="en-US" dirty="0" smtClean="0"/>
              <a:t>It is a processes by which elements within the society change in a systematic fashion to allow for social development. </a:t>
            </a:r>
          </a:p>
          <a:p>
            <a:r>
              <a:rPr lang="en-US" dirty="0" smtClean="0"/>
              <a:t> It is concerned with the matter of social progress. </a:t>
            </a:r>
          </a:p>
          <a:p>
            <a:r>
              <a:rPr lang="en-US" dirty="0" smtClean="0"/>
              <a:t>The term 'Progress' refers to the orderly development of the society, which are according to the natural law. </a:t>
            </a:r>
          </a:p>
          <a:p>
            <a:r>
              <a:rPr lang="en-US" dirty="0" smtClean="0"/>
              <a:t>Dynamics begin when the functions of the social institutions are altered or changed.</a:t>
            </a:r>
          </a:p>
          <a:p>
            <a:r>
              <a:rPr lang="en-US" dirty="0" smtClean="0"/>
              <a:t>Thus, the social dynamics are found in all the aspects of the society, such as physical, moral and intellectual. However, the intellectual is the most important. </a:t>
            </a:r>
          </a:p>
          <a:p>
            <a:endParaRPr lang="en-US" dirty="0" smtClean="0"/>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Law of three stages</a:t>
            </a:r>
            <a:endParaRPr lang="en-US" dirty="0"/>
          </a:p>
        </p:txBody>
      </p:sp>
      <p:sp>
        <p:nvSpPr>
          <p:cNvPr id="3" name="Content Placeholder 2"/>
          <p:cNvSpPr>
            <a:spLocks noGrp="1"/>
          </p:cNvSpPr>
          <p:nvPr>
            <p:ph idx="1"/>
          </p:nvPr>
        </p:nvSpPr>
        <p:spPr/>
        <p:txBody>
          <a:bodyPr/>
          <a:lstStyle/>
          <a:p>
            <a:r>
              <a:rPr lang="en-US" dirty="0" smtClean="0"/>
              <a:t>Comte’s ideas relating to the law of three stages reveal that man is becoming more and more rational and scientific in his approach by gradually giving up speculations, imagination etc. </a:t>
            </a:r>
          </a:p>
          <a:p>
            <a:r>
              <a:rPr lang="en-US" dirty="0" smtClean="0"/>
              <a:t>Comte considered his law of Three stages based upon belief in social evolution to be the most important. There has been an evolution in the human thinking.</a:t>
            </a:r>
          </a:p>
          <a:p>
            <a:r>
              <a:rPr lang="en-US" dirty="0" smtClean="0"/>
              <a:t>This law appeared in, the year 1822 in his book Positive Philosophy.</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descr="C:\Users\Uder\Desktop\Capture.PNG"/>
          <p:cNvPicPr>
            <a:picLocks noGrp="1" noChangeAspect="1" noChangeArrowheads="1"/>
          </p:cNvPicPr>
          <p:nvPr>
            <p:ph idx="1"/>
          </p:nvPr>
        </p:nvPicPr>
        <p:blipFill>
          <a:blip r:embed="rId2"/>
          <a:srcRect/>
          <a:stretch>
            <a:fillRect/>
          </a:stretch>
        </p:blipFill>
        <p:spPr bwMode="auto">
          <a:xfrm>
            <a:off x="152400" y="152400"/>
            <a:ext cx="8763000" cy="6477000"/>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38200"/>
          </a:xfrm>
        </p:spPr>
        <p:txBody>
          <a:bodyPr/>
          <a:lstStyle/>
          <a:p>
            <a:r>
              <a:rPr lang="en-US" dirty="0" smtClean="0"/>
              <a:t>Theological stage(&lt;1300A.D)</a:t>
            </a:r>
            <a:endParaRPr lang="en-US" dirty="0"/>
          </a:p>
        </p:txBody>
      </p:sp>
      <p:sp>
        <p:nvSpPr>
          <p:cNvPr id="3" name="Content Placeholder 2"/>
          <p:cNvSpPr>
            <a:spLocks noGrp="1"/>
          </p:cNvSpPr>
          <p:nvPr>
            <p:ph idx="1"/>
          </p:nvPr>
        </p:nvSpPr>
        <p:spPr>
          <a:xfrm>
            <a:off x="457200" y="1600200"/>
            <a:ext cx="8229600" cy="4724400"/>
          </a:xfrm>
        </p:spPr>
        <p:txBody>
          <a:bodyPr>
            <a:normAutofit fontScale="92500" lnSpcReduction="10000"/>
          </a:bodyPr>
          <a:lstStyle/>
          <a:p>
            <a:r>
              <a:rPr lang="en-US" dirty="0" smtClean="0"/>
              <a:t>Theological thinking implies belief in super natural power. </a:t>
            </a:r>
          </a:p>
          <a:p>
            <a:r>
              <a:rPr lang="en-US" dirty="0" smtClean="0"/>
              <a:t>This type of thinking is found among the primitive races. </a:t>
            </a:r>
          </a:p>
          <a:p>
            <a:r>
              <a:rPr lang="en-US" dirty="0" smtClean="0"/>
              <a:t>In this stage, all natural phenomena and social events were explained in terms of super natural forces, which ultimately explaining everything as the product of God’s will. </a:t>
            </a:r>
          </a:p>
          <a:p>
            <a:r>
              <a:rPr lang="en-US" dirty="0" smtClean="0"/>
              <a:t>Both philosophical speculation and scientific explanation were absent, rather dominated by religious interpretation of social phenomena.</a:t>
            </a:r>
          </a:p>
          <a:p>
            <a:r>
              <a:rPr lang="en-US" dirty="0" smtClean="0"/>
              <a:t>This stage is dominated by priests and ruled by military men.</a:t>
            </a:r>
          </a:p>
          <a:p>
            <a:r>
              <a:rPr lang="en-US" dirty="0" smtClean="0"/>
              <a:t>This stage is further sub-divided into three sub stages</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Fetishism</a:t>
            </a:r>
            <a:endParaRPr lang="en-US" dirty="0"/>
          </a:p>
        </p:txBody>
      </p:sp>
      <p:sp>
        <p:nvSpPr>
          <p:cNvPr id="3" name="Content Placeholder 2"/>
          <p:cNvSpPr>
            <a:spLocks noGrp="1"/>
          </p:cNvSpPr>
          <p:nvPr>
            <p:ph idx="1"/>
          </p:nvPr>
        </p:nvSpPr>
        <p:spPr/>
        <p:txBody>
          <a:bodyPr>
            <a:normAutofit/>
          </a:bodyPr>
          <a:lstStyle/>
          <a:p>
            <a:r>
              <a:rPr lang="en-US" b="1" dirty="0" smtClean="0"/>
              <a:t> Fetish means</a:t>
            </a:r>
            <a:r>
              <a:rPr lang="en-US" dirty="0" smtClean="0"/>
              <a:t> “inanimate” and ism means “philosophy”. This is a philosophy which believes that super natural power dwells in inanimate objects. </a:t>
            </a:r>
          </a:p>
          <a:p>
            <a:r>
              <a:rPr lang="en-US" dirty="0" smtClean="0"/>
              <a:t>Fetishism as a form of religion started which admitted of no priesthood. </a:t>
            </a:r>
          </a:p>
          <a:p>
            <a:r>
              <a:rPr lang="en-US" dirty="0" smtClean="0"/>
              <a:t>Pieces  of wood, stone, skull etc. are believed to be the dwelling place of super natural powers, as these objects are believed to possess divine power. </a:t>
            </a:r>
          </a:p>
          <a:p>
            <a:r>
              <a:rPr lang="en-US" dirty="0" smtClean="0"/>
              <a:t>But too many fetishes created confusion for people.</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Polytheism </a:t>
            </a:r>
            <a:endParaRPr lang="en-US" dirty="0"/>
          </a:p>
        </p:txBody>
      </p:sp>
      <p:sp>
        <p:nvSpPr>
          <p:cNvPr id="3" name="Content Placeholder 2"/>
          <p:cNvSpPr>
            <a:spLocks noGrp="1"/>
          </p:cNvSpPr>
          <p:nvPr>
            <p:ph idx="1"/>
          </p:nvPr>
        </p:nvSpPr>
        <p:spPr/>
        <p:txBody>
          <a:bodyPr>
            <a:normAutofit lnSpcReduction="10000"/>
          </a:bodyPr>
          <a:lstStyle/>
          <a:p>
            <a:r>
              <a:rPr lang="en-US" b="1" dirty="0" smtClean="0"/>
              <a:t>Poly’ means</a:t>
            </a:r>
            <a:r>
              <a:rPr lang="en-US" dirty="0" smtClean="0"/>
              <a:t> many. So the belief in many Gods is called polytheism. Human being received variety or diversity of natural phenomena. Each phenomenon was kept under the disposal of one God. </a:t>
            </a:r>
          </a:p>
          <a:p>
            <a:r>
              <a:rPr lang="en-US" dirty="0" smtClean="0"/>
              <a:t>One God was believed to be in charge of one particular natural phenomenon. </a:t>
            </a:r>
          </a:p>
          <a:p>
            <a:r>
              <a:rPr lang="en-US" dirty="0" smtClean="0"/>
              <a:t>People created the class of priests to get the goodwill and the blessings of these gods. </a:t>
            </a:r>
          </a:p>
          <a:p>
            <a:r>
              <a:rPr lang="en-US" dirty="0" smtClean="0"/>
              <a:t>The presence of too many gods also created for them mental contradictions. Finally they developed the idea of one God, i.e. monotheism</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90600"/>
          </a:xfrm>
        </p:spPr>
        <p:txBody>
          <a:bodyPr/>
          <a:lstStyle/>
          <a:p>
            <a:r>
              <a:rPr lang="en-US" dirty="0" smtClean="0"/>
              <a:t>Monotheism</a:t>
            </a:r>
            <a:endParaRPr lang="en-US" dirty="0"/>
          </a:p>
        </p:txBody>
      </p:sp>
      <p:sp>
        <p:nvSpPr>
          <p:cNvPr id="3" name="Content Placeholder 2"/>
          <p:cNvSpPr>
            <a:spLocks noGrp="1"/>
          </p:cNvSpPr>
          <p:nvPr>
            <p:ph idx="1"/>
          </p:nvPr>
        </p:nvSpPr>
        <p:spPr>
          <a:xfrm>
            <a:off x="457200" y="1600200"/>
            <a:ext cx="8229600" cy="4953000"/>
          </a:xfrm>
        </p:spPr>
        <p:txBody>
          <a:bodyPr>
            <a:normAutofit lnSpcReduction="10000"/>
          </a:bodyPr>
          <a:lstStyle/>
          <a:p>
            <a:r>
              <a:rPr lang="en-US" b="1" dirty="0" smtClean="0"/>
              <a:t> It means</a:t>
            </a:r>
            <a:r>
              <a:rPr lang="en-US" dirty="0" smtClean="0"/>
              <a:t> belief in one single God. He is all in all. He controls everything in this world. He is the maker of human destiny. </a:t>
            </a:r>
          </a:p>
          <a:p>
            <a:r>
              <a:rPr lang="en-US" dirty="0" smtClean="0"/>
              <a:t>Monotheism is the climax of the theological stage of thinking. </a:t>
            </a:r>
          </a:p>
          <a:p>
            <a:r>
              <a:rPr lang="en-US" dirty="0" smtClean="0"/>
              <a:t>The monotheistic thinking symbolizes the victory of human intellect and reason over non-intellectual and irrational thinking. </a:t>
            </a:r>
          </a:p>
          <a:p>
            <a:r>
              <a:rPr lang="en-US" dirty="0" smtClean="0"/>
              <a:t>Slowly feelings and imaginations started giving place to thinking and rationality. </a:t>
            </a:r>
          </a:p>
          <a:p>
            <a:r>
              <a:rPr lang="en-US" dirty="0" smtClean="0"/>
              <a:t>In monotheism a simplification of many gods into one God takes place</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914400"/>
          </a:xfrm>
        </p:spPr>
        <p:txBody>
          <a:bodyPr/>
          <a:lstStyle/>
          <a:p>
            <a:r>
              <a:rPr lang="en-US" b="1" dirty="0" smtClean="0"/>
              <a:t>Metaphysical </a:t>
            </a:r>
            <a:r>
              <a:rPr lang="en-US" dirty="0" smtClean="0"/>
              <a:t>(1300-1800)</a:t>
            </a:r>
            <a:endParaRPr lang="en-US" dirty="0"/>
          </a:p>
        </p:txBody>
      </p:sp>
      <p:sp>
        <p:nvSpPr>
          <p:cNvPr id="3" name="Content Placeholder 2"/>
          <p:cNvSpPr>
            <a:spLocks noGrp="1"/>
          </p:cNvSpPr>
          <p:nvPr>
            <p:ph idx="1"/>
          </p:nvPr>
        </p:nvSpPr>
        <p:spPr>
          <a:xfrm>
            <a:off x="457200" y="1752600"/>
            <a:ext cx="8229600" cy="4724400"/>
          </a:xfrm>
        </p:spPr>
        <p:txBody>
          <a:bodyPr>
            <a:normAutofit fontScale="92500" lnSpcReduction="20000"/>
          </a:bodyPr>
          <a:lstStyle/>
          <a:p>
            <a:pPr algn="just"/>
            <a:r>
              <a:rPr lang="en-US" dirty="0" smtClean="0"/>
              <a:t>It is a bit more revolutionary stage than the theological one. </a:t>
            </a:r>
          </a:p>
          <a:p>
            <a:pPr algn="just"/>
            <a:r>
              <a:rPr lang="en-US" dirty="0" smtClean="0"/>
              <a:t>It is a transitional stage between the preceding theological stage and the ensuing positivistic stage. </a:t>
            </a:r>
          </a:p>
          <a:p>
            <a:pPr algn="just"/>
            <a:r>
              <a:rPr lang="en-US" dirty="0" smtClean="0"/>
              <a:t>‘Meta’ means beyond and physical means material world. </a:t>
            </a:r>
          </a:p>
          <a:p>
            <a:pPr algn="just"/>
            <a:r>
              <a:rPr lang="en-US" dirty="0" smtClean="0"/>
              <a:t>Metaphysics refers to the studies of what cannot be reached through objective studies of material reality</a:t>
            </a:r>
          </a:p>
          <a:p>
            <a:pPr algn="just"/>
            <a:r>
              <a:rPr lang="en-US" dirty="0" smtClean="0"/>
              <a:t>Abstract forces replace supernatural beings as the explanation for the original causes and purposes of things in the world. </a:t>
            </a:r>
          </a:p>
          <a:p>
            <a:pPr algn="just"/>
            <a:r>
              <a:rPr lang="en-US" dirty="0" smtClean="0"/>
              <a:t>Mysterious forces such as “nature” are invoked to explain why things are the way they are</a:t>
            </a:r>
          </a:p>
          <a:p>
            <a:pPr algn="just"/>
            <a:r>
              <a:rPr lang="en-US" dirty="0" smtClean="0"/>
              <a:t>Rationalism started growing instead of imagination.</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t>Rationalism states that God does not stand directly behind every phenomenon. </a:t>
            </a:r>
          </a:p>
          <a:p>
            <a:r>
              <a:rPr lang="en-US" dirty="0" smtClean="0"/>
              <a:t>Pure reasoning insists that God is an Abstract being. </a:t>
            </a:r>
          </a:p>
          <a:p>
            <a:r>
              <a:rPr lang="en-US" dirty="0" smtClean="0"/>
              <a:t>Under metaphysical thinking it is believed that an abstract power or force guides and determines the events in the world.</a:t>
            </a:r>
          </a:p>
          <a:p>
            <a:r>
              <a:rPr lang="en-US" dirty="0" smtClean="0"/>
              <a:t>Metaphysical thinking discards belief in concrete God.</a:t>
            </a:r>
          </a:p>
          <a:p>
            <a:r>
              <a:rPr lang="en-US" dirty="0" smtClean="0"/>
              <a:t>It is characterized by the dominance of “</a:t>
            </a:r>
            <a:r>
              <a:rPr lang="en-US" dirty="0" smtClean="0"/>
              <a:t>rationalism.”</a:t>
            </a:r>
            <a:endParaRPr lang="en-US" b="1" dirty="0" smtClean="0"/>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371600"/>
          </a:xfrm>
        </p:spPr>
        <p:txBody>
          <a:bodyPr>
            <a:normAutofit fontScale="90000"/>
          </a:bodyPr>
          <a:lstStyle/>
          <a:p>
            <a:r>
              <a:rPr lang="en-US" sz="4400" b="1" dirty="0" smtClean="0"/>
              <a:t>Positive/Scientific stage(1800-now) </a:t>
            </a:r>
            <a:r>
              <a:rPr lang="en-US" b="1" dirty="0" smtClean="0"/>
              <a:t/>
            </a:r>
            <a:br>
              <a:rPr lang="en-US" b="1" dirty="0" smtClean="0"/>
            </a:br>
            <a:endParaRPr lang="en-US" dirty="0"/>
          </a:p>
        </p:txBody>
      </p:sp>
      <p:sp>
        <p:nvSpPr>
          <p:cNvPr id="3" name="Content Placeholder 2"/>
          <p:cNvSpPr>
            <a:spLocks noGrp="1"/>
          </p:cNvSpPr>
          <p:nvPr>
            <p:ph idx="1"/>
          </p:nvPr>
        </p:nvSpPr>
        <p:spPr>
          <a:xfrm>
            <a:off x="457200" y="1295400"/>
            <a:ext cx="8229600" cy="5410200"/>
          </a:xfrm>
        </p:spPr>
        <p:txBody>
          <a:bodyPr>
            <a:normAutofit fontScale="92500"/>
          </a:bodyPr>
          <a:lstStyle/>
          <a:p>
            <a:r>
              <a:rPr lang="en-US" dirty="0" smtClean="0"/>
              <a:t>The positive stage represents the scientific way of thinking.</a:t>
            </a:r>
          </a:p>
          <a:p>
            <a:r>
              <a:rPr lang="en-US" dirty="0" smtClean="0"/>
              <a:t>The positive or scientific knowledge is based upon facts and these facts are gathered by observation and experience.</a:t>
            </a:r>
          </a:p>
          <a:p>
            <a:r>
              <a:rPr lang="en-US" dirty="0" smtClean="0"/>
              <a:t>All phenomena are seen as subject to natural laws that can be investigated by observations and experimentation.</a:t>
            </a:r>
            <a:endParaRPr lang="en-US" b="1" dirty="0" smtClean="0"/>
          </a:p>
          <a:p>
            <a:r>
              <a:rPr lang="en-US" dirty="0" smtClean="0"/>
              <a:t>The dawn of the 19th Century marked the beginning of the positive stage in which observation predominates over imagination.</a:t>
            </a:r>
          </a:p>
          <a:p>
            <a:r>
              <a:rPr lang="en-US" dirty="0" smtClean="0"/>
              <a:t> All theoretical concepts have become positive. </a:t>
            </a:r>
          </a:p>
          <a:p>
            <a:r>
              <a:rPr lang="en-US" dirty="0" smtClean="0"/>
              <a:t>The concept of God is totally vanished from human mind. Human mind tries to establish cause and effect relationship. </a:t>
            </a:r>
          </a:p>
          <a:p>
            <a:r>
              <a:rPr lang="en-US" dirty="0" smtClean="0"/>
              <a:t>Mind is actually in search of final and ultimate cause.</a:t>
            </a:r>
            <a:endParaRPr lang="en-US" b="1" dirty="0" smtClean="0"/>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14400"/>
          </a:xfrm>
        </p:spPr>
        <p:txBody>
          <a:bodyPr/>
          <a:lstStyle/>
          <a:p>
            <a:r>
              <a:rPr lang="en-US" dirty="0" smtClean="0"/>
              <a:t>Karl Marx (1818-1883)</a:t>
            </a:r>
            <a:endParaRPr lang="en-US" dirty="0"/>
          </a:p>
        </p:txBody>
      </p:sp>
      <p:sp>
        <p:nvSpPr>
          <p:cNvPr id="3" name="Content Placeholder 2"/>
          <p:cNvSpPr>
            <a:spLocks noGrp="1"/>
          </p:cNvSpPr>
          <p:nvPr>
            <p:ph idx="1"/>
          </p:nvPr>
        </p:nvSpPr>
        <p:spPr>
          <a:xfrm>
            <a:off x="457200" y="1600200"/>
            <a:ext cx="8229600" cy="4724400"/>
          </a:xfrm>
        </p:spPr>
        <p:txBody>
          <a:bodyPr>
            <a:normAutofit/>
          </a:bodyPr>
          <a:lstStyle/>
          <a:p>
            <a:r>
              <a:rPr lang="en-US" sz="2800" b="1" dirty="0" smtClean="0"/>
              <a:t>Karl Marx</a:t>
            </a:r>
            <a:r>
              <a:rPr lang="en-US" sz="2800" dirty="0" smtClean="0"/>
              <a:t> (born May 5, 1818, Rhine province, Prussia [Germany]—died March 14, 1883, </a:t>
            </a:r>
            <a:r>
              <a:rPr lang="en-US" sz="2800" u="sng" dirty="0" smtClean="0"/>
              <a:t>London</a:t>
            </a:r>
            <a:r>
              <a:rPr lang="en-US" sz="2800" dirty="0" smtClean="0"/>
              <a:t>, England) was a revolutionary, </a:t>
            </a:r>
            <a:r>
              <a:rPr lang="en-US" sz="2800" u="sng" dirty="0" smtClean="0"/>
              <a:t>sociologist</a:t>
            </a:r>
            <a:r>
              <a:rPr lang="en-US" sz="2800" dirty="0" smtClean="0"/>
              <a:t>, historian, and economist. He published (with </a:t>
            </a:r>
            <a:r>
              <a:rPr lang="en-US" sz="2800" u="sng" dirty="0" smtClean="0"/>
              <a:t>Friedrich Engels</a:t>
            </a:r>
            <a:r>
              <a:rPr lang="en-US" sz="2800" dirty="0" smtClean="0"/>
              <a:t>) </a:t>
            </a:r>
            <a:r>
              <a:rPr lang="en-US" sz="2800" i="1" dirty="0" smtClean="0"/>
              <a:t>Manifest </a:t>
            </a:r>
            <a:r>
              <a:rPr lang="en-US" sz="2800" i="1" dirty="0" err="1" smtClean="0"/>
              <a:t>der</a:t>
            </a:r>
            <a:r>
              <a:rPr lang="en-US" sz="2800" i="1" dirty="0" smtClean="0"/>
              <a:t> </a:t>
            </a:r>
            <a:r>
              <a:rPr lang="en-US" sz="2800" i="1" dirty="0" err="1" smtClean="0"/>
              <a:t>Kommunistischen</a:t>
            </a:r>
            <a:r>
              <a:rPr lang="en-US" sz="2800" i="1" dirty="0" smtClean="0"/>
              <a:t> </a:t>
            </a:r>
            <a:r>
              <a:rPr lang="en-US" sz="2800" i="1" dirty="0" err="1" smtClean="0"/>
              <a:t>Partei</a:t>
            </a:r>
            <a:r>
              <a:rPr lang="en-US" sz="2800" dirty="0" smtClean="0"/>
              <a:t> (1848), commonly known as </a:t>
            </a:r>
            <a:r>
              <a:rPr lang="en-US" sz="2800" i="1" u="sng" dirty="0" smtClean="0"/>
              <a:t>The Communist Manifesto</a:t>
            </a:r>
            <a:r>
              <a:rPr lang="en-US" sz="2800" dirty="0" smtClean="0"/>
              <a:t>, </a:t>
            </a:r>
          </a:p>
          <a:p>
            <a:r>
              <a:rPr lang="en-US" dirty="0" smtClean="0"/>
              <a:t>He also was the author of the movement’s most important book, </a:t>
            </a:r>
            <a:r>
              <a:rPr lang="en-US" i="1" u="sng" dirty="0" smtClean="0"/>
              <a:t>Das </a:t>
            </a:r>
            <a:r>
              <a:rPr lang="en-US" i="1" u="sng" dirty="0" err="1" smtClean="0"/>
              <a:t>Kapital</a:t>
            </a:r>
            <a:r>
              <a:rPr lang="en-US" dirty="0" smtClean="0"/>
              <a:t>. </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219200"/>
          </a:xfrm>
        </p:spPr>
        <p:txBody>
          <a:bodyPr/>
          <a:lstStyle/>
          <a:p>
            <a:r>
              <a:rPr lang="en-US" sz="5400" b="1" dirty="0" smtClean="0"/>
              <a:t>Conflict Theory</a:t>
            </a:r>
            <a:endParaRPr lang="en-US" sz="5400" b="1" dirty="0"/>
          </a:p>
        </p:txBody>
      </p:sp>
      <p:sp>
        <p:nvSpPr>
          <p:cNvPr id="3" name="Content Placeholder 2"/>
          <p:cNvSpPr>
            <a:spLocks noGrp="1"/>
          </p:cNvSpPr>
          <p:nvPr>
            <p:ph idx="1"/>
          </p:nvPr>
        </p:nvSpPr>
        <p:spPr/>
        <p:txBody>
          <a:bodyPr>
            <a:normAutofit/>
          </a:bodyPr>
          <a:lstStyle/>
          <a:p>
            <a:pPr>
              <a:defRPr/>
            </a:pPr>
            <a:r>
              <a:rPr lang="en-US" dirty="0" smtClean="0"/>
              <a:t>It is the theory that power struggles and dynamics drive societal change</a:t>
            </a:r>
          </a:p>
          <a:p>
            <a:pPr>
              <a:defRPr/>
            </a:pPr>
            <a:r>
              <a:rPr lang="en-US" dirty="0" smtClean="0"/>
              <a:t>Marx concentrated on the conflict between the social classes: those of the bourgeoisie and the proletariat</a:t>
            </a:r>
          </a:p>
          <a:p>
            <a:pPr>
              <a:defRPr/>
            </a:pPr>
            <a:r>
              <a:rPr lang="en-US" dirty="0" smtClean="0"/>
              <a:t>There are fewer but more powerful individuals in the upper class, which creates conflict with a majority oppressed class </a:t>
            </a:r>
          </a:p>
          <a:p>
            <a:pPr>
              <a:defRPr/>
            </a:pPr>
            <a:r>
              <a:rPr lang="en-US" dirty="0" smtClean="0"/>
              <a:t>The two groups are in a struggle, and resources are unjustly distributed to the few.</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838200"/>
          </a:xfrm>
        </p:spPr>
        <p:txBody>
          <a:bodyPr/>
          <a:lstStyle/>
          <a:p>
            <a:r>
              <a:rPr lang="en-US" dirty="0" err="1" smtClean="0"/>
              <a:t>Labour</a:t>
            </a:r>
            <a:r>
              <a:rPr lang="en-US" dirty="0" smtClean="0"/>
              <a:t> Theory of Alienation</a:t>
            </a:r>
            <a:endParaRPr lang="en-US" dirty="0"/>
          </a:p>
        </p:txBody>
      </p:sp>
      <p:sp>
        <p:nvSpPr>
          <p:cNvPr id="3" name="Content Placeholder 2"/>
          <p:cNvSpPr>
            <a:spLocks noGrp="1"/>
          </p:cNvSpPr>
          <p:nvPr>
            <p:ph idx="1"/>
          </p:nvPr>
        </p:nvSpPr>
        <p:spPr>
          <a:xfrm>
            <a:off x="457200" y="1447800"/>
            <a:ext cx="8229600" cy="4876800"/>
          </a:xfrm>
        </p:spPr>
        <p:txBody>
          <a:bodyPr>
            <a:normAutofit lnSpcReduction="10000"/>
          </a:bodyPr>
          <a:lstStyle/>
          <a:p>
            <a:r>
              <a:rPr lang="en-US" dirty="0" smtClean="0"/>
              <a:t>In Marx’s view, alienation is a symptom of the industrial age and of capitalism</a:t>
            </a:r>
          </a:p>
          <a:p>
            <a:r>
              <a:rPr lang="en-US" dirty="0" smtClean="0"/>
              <a:t>A worker on a production line sees only the part of the work that he is involved with</a:t>
            </a:r>
          </a:p>
          <a:p>
            <a:r>
              <a:rPr lang="en-US" dirty="0" smtClean="0"/>
              <a:t> He has no knowledge or control over the final product that is produced and sold</a:t>
            </a:r>
          </a:p>
          <a:p>
            <a:r>
              <a:rPr lang="en-US" dirty="0" smtClean="0"/>
              <a:t> The workman has no relationship with the goods that he is producing</a:t>
            </a:r>
          </a:p>
          <a:p>
            <a:r>
              <a:rPr lang="en-US" dirty="0" smtClean="0"/>
              <a:t>He is alienated from his own labor</a:t>
            </a:r>
          </a:p>
          <a:p>
            <a:r>
              <a:rPr lang="en-US" dirty="0" smtClean="0"/>
              <a:t>He works purely for the money</a:t>
            </a:r>
          </a:p>
          <a:p>
            <a:r>
              <a:rPr lang="en-US" dirty="0" smtClean="0"/>
              <a:t>There is no satisfaction in the work that he does</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Historical Materialism</a:t>
            </a:r>
            <a:br>
              <a:rPr lang="en-US" b="1" dirty="0" smtClean="0"/>
            </a:br>
            <a:endParaRPr lang="en-US" dirty="0"/>
          </a:p>
        </p:txBody>
      </p:sp>
      <p:sp>
        <p:nvSpPr>
          <p:cNvPr id="3" name="Content Placeholder 2"/>
          <p:cNvSpPr>
            <a:spLocks noGrp="1"/>
          </p:cNvSpPr>
          <p:nvPr>
            <p:ph idx="1"/>
          </p:nvPr>
        </p:nvSpPr>
        <p:spPr>
          <a:xfrm>
            <a:off x="457200" y="1371600"/>
            <a:ext cx="8229600" cy="4953000"/>
          </a:xfrm>
        </p:spPr>
        <p:txBody>
          <a:bodyPr/>
          <a:lstStyle/>
          <a:p>
            <a:r>
              <a:rPr lang="en-US" dirty="0" smtClean="0"/>
              <a:t>Marx proposed a theory of historical materialism in which he describes stages that societies pass through. These are </a:t>
            </a:r>
          </a:p>
          <a:p>
            <a:pPr marL="571500" indent="-571500">
              <a:buFont typeface="+mj-lt"/>
              <a:buAutoNum type="romanLcPeriod"/>
            </a:pPr>
            <a:r>
              <a:rPr lang="en-US" dirty="0" smtClean="0"/>
              <a:t>Primitive  communism, </a:t>
            </a:r>
          </a:p>
          <a:p>
            <a:pPr marL="571500" indent="-571500">
              <a:buFont typeface="+mj-lt"/>
              <a:buAutoNum type="romanLcPeriod"/>
            </a:pPr>
            <a:r>
              <a:rPr lang="en-US" dirty="0" smtClean="0"/>
              <a:t>Slave  society, </a:t>
            </a:r>
          </a:p>
          <a:p>
            <a:pPr marL="571500" indent="-571500">
              <a:buFont typeface="+mj-lt"/>
              <a:buAutoNum type="romanLcPeriod"/>
            </a:pPr>
            <a:r>
              <a:rPr lang="en-US" dirty="0" smtClean="0"/>
              <a:t>Feudalism, </a:t>
            </a:r>
          </a:p>
          <a:p>
            <a:pPr marL="571500" indent="-571500">
              <a:buFont typeface="+mj-lt"/>
              <a:buAutoNum type="romanLcPeriod"/>
            </a:pPr>
            <a:r>
              <a:rPr lang="en-US" dirty="0" smtClean="0"/>
              <a:t>Capitalism, and </a:t>
            </a:r>
          </a:p>
          <a:p>
            <a:pPr marL="571500" indent="-571500">
              <a:buFont typeface="+mj-lt"/>
              <a:buAutoNum type="romanLcPeriod"/>
            </a:pPr>
            <a:r>
              <a:rPr lang="en-US" dirty="0" smtClean="0"/>
              <a:t>Advanced  communism.</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229600" cy="5257800"/>
          </a:xfrm>
        </p:spPr>
        <p:txBody>
          <a:bodyPr>
            <a:normAutofit lnSpcReduction="10000"/>
          </a:bodyPr>
          <a:lstStyle/>
          <a:p>
            <a:r>
              <a:rPr lang="en-US" b="1" dirty="0" smtClean="0"/>
              <a:t>Primitive communism</a:t>
            </a:r>
            <a:r>
              <a:rPr lang="en-US" dirty="0" smtClean="0"/>
              <a:t>: Primitive communism was a time when society was free of social class divisions, and there were simply hunters and gathers who obtained enough food for survival. </a:t>
            </a:r>
          </a:p>
          <a:p>
            <a:r>
              <a:rPr lang="en-US" dirty="0" smtClean="0"/>
              <a:t>Since there was not a surplus of production, there was no exploitation.</a:t>
            </a:r>
          </a:p>
          <a:p>
            <a:r>
              <a:rPr lang="en-US" b="1" dirty="0" smtClean="0"/>
              <a:t>Slave society: </a:t>
            </a:r>
            <a:r>
              <a:rPr lang="en-US" dirty="0" smtClean="0"/>
              <a:t>Slave society is thought of as the first stage of exploitation. </a:t>
            </a:r>
          </a:p>
          <a:p>
            <a:r>
              <a:rPr lang="en-US" dirty="0" smtClean="0"/>
              <a:t>This is when there was a division between the wealthy aristocrats and those who were slaves. </a:t>
            </a:r>
          </a:p>
          <a:p>
            <a:r>
              <a:rPr lang="en-US" dirty="0" smtClean="0"/>
              <a:t>This period gave way to more advanced productive forces, with the means of production being by the people who were the property of the slave owners.</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935480"/>
            <a:ext cx="8229600" cy="4770120"/>
          </a:xfrm>
        </p:spPr>
        <p:txBody>
          <a:bodyPr>
            <a:normAutofit lnSpcReduction="10000"/>
          </a:bodyPr>
          <a:lstStyle/>
          <a:p>
            <a:r>
              <a:rPr lang="en-US" b="1" dirty="0" smtClean="0"/>
              <a:t>Feudalism: </a:t>
            </a:r>
            <a:r>
              <a:rPr lang="en-US" dirty="0" smtClean="0"/>
              <a:t>Feudalism was a dominant social system in medieval Europe, and society was divided into landowners and land occupiers. </a:t>
            </a:r>
          </a:p>
          <a:p>
            <a:r>
              <a:rPr lang="en-US" dirty="0" smtClean="0"/>
              <a:t>It was a system in which people were given land and protection by the nobles, who had to work and fight for them in return. Essentially, in feudalism, the landowners exploited the land occupiers.</a:t>
            </a:r>
          </a:p>
          <a:p>
            <a:r>
              <a:rPr lang="en-US" b="1" dirty="0" smtClean="0"/>
              <a:t>Capitalism:</a:t>
            </a:r>
            <a:r>
              <a:rPr lang="en-US" dirty="0" smtClean="0"/>
              <a:t> in which there are private property owners who exploit the labor of their workers, whom they pay as little as possible to obtain high profits. </a:t>
            </a:r>
          </a:p>
          <a:p>
            <a:r>
              <a:rPr lang="en-US" dirty="0" smtClean="0"/>
              <a:t>This period is viewed as the wealthiest in society exploiting the poorest.</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Advanced  communism</a:t>
            </a:r>
            <a:r>
              <a:rPr lang="en-US" dirty="0" smtClean="0"/>
              <a:t>: Marx’s prediction for the next stage of society is that it will be an advanced communist one. </a:t>
            </a:r>
          </a:p>
          <a:p>
            <a:r>
              <a:rPr lang="en-US" dirty="0" smtClean="0"/>
              <a:t>In a communist society, there would be shared resources and wealth and no exploitation.</a:t>
            </a:r>
          </a:p>
          <a:p>
            <a:r>
              <a:rPr lang="en-US" dirty="0" smtClean="0"/>
              <a:t>This was Marx’s idea of a utopia in which the system benefits most people in society rather than a small minority.</a:t>
            </a:r>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lang="en-US" dirty="0" smtClean="0"/>
              <a:t>Emile Durkheim (1858-1917)</a:t>
            </a:r>
            <a:endParaRPr lang="en-US" dirty="0"/>
          </a:p>
        </p:txBody>
      </p:sp>
      <p:sp>
        <p:nvSpPr>
          <p:cNvPr id="3" name="Content Placeholder 2"/>
          <p:cNvSpPr>
            <a:spLocks noGrp="1"/>
          </p:cNvSpPr>
          <p:nvPr>
            <p:ph idx="1"/>
          </p:nvPr>
        </p:nvSpPr>
        <p:spPr>
          <a:xfrm>
            <a:off x="457200" y="1371600"/>
            <a:ext cx="8229600" cy="4953000"/>
          </a:xfrm>
        </p:spPr>
        <p:txBody>
          <a:bodyPr>
            <a:normAutofit/>
          </a:bodyPr>
          <a:lstStyle/>
          <a:p>
            <a:r>
              <a:rPr lang="en-US" dirty="0" smtClean="0"/>
              <a:t>Emile Durkheim (1858-1916) was born in Lorraine, France.  </a:t>
            </a:r>
          </a:p>
          <a:p>
            <a:r>
              <a:rPr lang="en-US" dirty="0" smtClean="0"/>
              <a:t>Durkheim came from a Jewish background, and was a superior student at school and University.   </a:t>
            </a:r>
          </a:p>
          <a:p>
            <a:r>
              <a:rPr lang="en-US" dirty="0" smtClean="0"/>
              <a:t>In 1902 he was appointed to a professorship at the Sorbonne, in Paris, where he remained until he died.   </a:t>
            </a:r>
          </a:p>
          <a:p>
            <a:r>
              <a:rPr lang="en-US" dirty="0" smtClean="0"/>
              <a:t>Durkheim's most famous works are </a:t>
            </a:r>
            <a:r>
              <a:rPr lang="en-US" i="1" dirty="0" smtClean="0"/>
              <a:t>The Division of Labor in Society</a:t>
            </a:r>
            <a:r>
              <a:rPr lang="en-US" dirty="0" smtClean="0"/>
              <a:t> (1893), </a:t>
            </a:r>
            <a:r>
              <a:rPr lang="en-US" i="1" dirty="0" smtClean="0"/>
              <a:t>The Rules of Sociological Method</a:t>
            </a:r>
            <a:r>
              <a:rPr lang="en-US" dirty="0" smtClean="0"/>
              <a:t> (1895), </a:t>
            </a:r>
            <a:r>
              <a:rPr lang="en-US" i="1" dirty="0" smtClean="0"/>
              <a:t>Suicide</a:t>
            </a:r>
            <a:r>
              <a:rPr lang="en-US" dirty="0" smtClean="0"/>
              <a:t> (1897) and </a:t>
            </a:r>
            <a:r>
              <a:rPr lang="en-US" i="1" dirty="0" smtClean="0"/>
              <a:t>The Elementary Forms of Religious Life</a:t>
            </a:r>
            <a:r>
              <a:rPr lang="en-US" dirty="0" smtClean="0"/>
              <a:t> (1912).</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38200"/>
          </a:xfrm>
        </p:spPr>
        <p:txBody>
          <a:bodyPr/>
          <a:lstStyle/>
          <a:p>
            <a:r>
              <a:rPr lang="en-US" dirty="0" smtClean="0"/>
              <a:t>Theory of suicide</a:t>
            </a:r>
            <a:endParaRPr lang="en-US" dirty="0"/>
          </a:p>
        </p:txBody>
      </p:sp>
      <p:sp>
        <p:nvSpPr>
          <p:cNvPr id="3" name="Content Placeholder 2"/>
          <p:cNvSpPr>
            <a:spLocks noGrp="1"/>
          </p:cNvSpPr>
          <p:nvPr>
            <p:ph idx="1"/>
          </p:nvPr>
        </p:nvSpPr>
        <p:spPr>
          <a:xfrm>
            <a:off x="457200" y="1371600"/>
            <a:ext cx="8229600" cy="5334000"/>
          </a:xfrm>
        </p:spPr>
        <p:txBody>
          <a:bodyPr>
            <a:normAutofit/>
          </a:bodyPr>
          <a:lstStyle/>
          <a:p>
            <a:r>
              <a:rPr lang="en-US" dirty="0" smtClean="0"/>
              <a:t>Durkheim first began to study the problem of suicide in the year 1888. </a:t>
            </a:r>
          </a:p>
          <a:p>
            <a:r>
              <a:rPr lang="en-US" dirty="0" smtClean="0"/>
              <a:t>In 1897, he published his book entitled “Suicide” and this was his third major work, after “The theory of division of </a:t>
            </a:r>
            <a:r>
              <a:rPr lang="en-US" dirty="0" err="1" smtClean="0"/>
              <a:t>labour</a:t>
            </a:r>
            <a:r>
              <a:rPr lang="en-US" dirty="0" smtClean="0"/>
              <a:t>” and “The rules of sociological method”. </a:t>
            </a:r>
          </a:p>
          <a:p>
            <a:r>
              <a:rPr lang="en-US" dirty="0" smtClean="0"/>
              <a:t>The main purpose of Durkheim’s attempt to study suicide was search for the social factors responsible for suicide rather than looking at the psychological states of individuals who take their own lives.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Suicide</a:t>
            </a:r>
            <a:endParaRPr lang="en-US" dirty="0"/>
          </a:p>
        </p:txBody>
      </p:sp>
      <p:sp>
        <p:nvSpPr>
          <p:cNvPr id="3" name="Content Placeholder 2"/>
          <p:cNvSpPr>
            <a:spLocks noGrp="1"/>
          </p:cNvSpPr>
          <p:nvPr>
            <p:ph idx="1"/>
          </p:nvPr>
        </p:nvSpPr>
        <p:spPr/>
        <p:txBody>
          <a:bodyPr/>
          <a:lstStyle/>
          <a:p>
            <a:r>
              <a:rPr lang="en-US" b="1" dirty="0" smtClean="0"/>
              <a:t>1) Egoistic Suicide: </a:t>
            </a:r>
          </a:p>
          <a:p>
            <a:r>
              <a:rPr lang="en-US" dirty="0" smtClean="0"/>
              <a:t>A  form of self centered suicide which is a result of the individual’s lack of full participation together with emotional involvement that participation entails. </a:t>
            </a:r>
          </a:p>
          <a:p>
            <a:r>
              <a:rPr lang="en-US" dirty="0" smtClean="0"/>
              <a:t>It’s a result of low degree of integration. </a:t>
            </a:r>
          </a:p>
          <a:p>
            <a:r>
              <a:rPr lang="en-US" dirty="0" smtClean="0"/>
              <a:t>The individual feels isolation, deprivation and detachment. </a:t>
            </a:r>
          </a:p>
          <a:p>
            <a:r>
              <a:rPr lang="en-US" dirty="0" smtClean="0"/>
              <a:t>For Durkheim, this kind of state of mind exists among Protestants than Catholics, among unmarried as opposed to the married, divorced than un-divorced. </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b="1" dirty="0" smtClean="0"/>
              <a:t>2) Altruistic suicide: </a:t>
            </a:r>
          </a:p>
          <a:p>
            <a:r>
              <a:rPr lang="en-US" dirty="0" smtClean="0"/>
              <a:t>It  is the result of an extreme integration into a group/society to the point where group norms and goals as the only thing that matter. </a:t>
            </a:r>
          </a:p>
          <a:p>
            <a:r>
              <a:rPr lang="en-US" dirty="0" smtClean="0"/>
              <a:t>Social norms or group expectations are strong enough to force the individual to commit suicide.</a:t>
            </a:r>
          </a:p>
          <a:p>
            <a:r>
              <a:rPr lang="en-US" dirty="0" smtClean="0"/>
              <a:t> Altruistic suicide is common in “traditional” societies where values, norms, customs and expectations of the group have an extreme influence upon the individual. </a:t>
            </a:r>
          </a:p>
          <a:p>
            <a:r>
              <a:rPr lang="en-US" dirty="0" smtClean="0"/>
              <a:t>For example, Chinese society, killing oneself is preferred to surrendering to an enemy. </a:t>
            </a:r>
          </a:p>
          <a:p>
            <a:r>
              <a:rPr lang="en-US" dirty="0" smtClean="0"/>
              <a:t>In some Indian societies a widow must accompany her deceased husband by killing herself at his funeral. </a:t>
            </a:r>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b="1" dirty="0" smtClean="0"/>
              <a:t>3) Anomic suicide: </a:t>
            </a:r>
          </a:p>
          <a:p>
            <a:r>
              <a:rPr lang="en-US" dirty="0" smtClean="0"/>
              <a:t>Anomie is a disjunction between means and ends or a breakdown of societal norms–a state of </a:t>
            </a:r>
            <a:r>
              <a:rPr lang="en-US" dirty="0" err="1" smtClean="0"/>
              <a:t>normlessness</a:t>
            </a:r>
            <a:r>
              <a:rPr lang="en-US" dirty="0" smtClean="0"/>
              <a:t>.</a:t>
            </a:r>
          </a:p>
          <a:p>
            <a:r>
              <a:rPr lang="en-US" dirty="0" smtClean="0"/>
              <a:t>It is the failure to internalize the norms of the society or inability to adjust to changing norms or tension resulted from the conflicting norms themselves. </a:t>
            </a:r>
          </a:p>
          <a:p>
            <a:r>
              <a:rPr lang="en-US" dirty="0" smtClean="0"/>
              <a:t>In ability to adjust and choose to commit suicide occurs during economic crisis or when a there occurs a change in government. </a:t>
            </a:r>
          </a:p>
          <a:p>
            <a:r>
              <a:rPr lang="en-US" dirty="0" smtClean="0"/>
              <a:t>It is a result of low degree of regulation of norms of the behavior of individuals. </a:t>
            </a:r>
          </a:p>
          <a:p>
            <a:r>
              <a:rPr lang="en-US" dirty="0" smtClean="0"/>
              <a:t>It is common in industrial societies.</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4. Fatalistic suicide: </a:t>
            </a:r>
          </a:p>
          <a:p>
            <a:r>
              <a:rPr lang="en-US" dirty="0" smtClean="0"/>
              <a:t>It  occurs when there is excessive or oppressive regulation, the opposite of anomic cases. </a:t>
            </a:r>
          </a:p>
          <a:p>
            <a:r>
              <a:rPr lang="en-US" dirty="0" smtClean="0"/>
              <a:t>When the regulation is so oppressive, individuals who see nothing bright in their future become pessimistic due to their feeling of hopelessness, helplessness and forced to commit suicide. </a:t>
            </a:r>
          </a:p>
          <a:p>
            <a:r>
              <a:rPr lang="en-US" dirty="0" smtClean="0"/>
              <a:t>For example, suicide committed by slaves, prisoners</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066800"/>
          </a:xfrm>
        </p:spPr>
        <p:txBody>
          <a:bodyPr/>
          <a:lstStyle/>
          <a:p>
            <a:r>
              <a:rPr lang="en-US" dirty="0" smtClean="0"/>
              <a:t>Social Solidarity</a:t>
            </a:r>
            <a:endParaRPr lang="en-US" dirty="0"/>
          </a:p>
        </p:txBody>
      </p:sp>
      <p:sp>
        <p:nvSpPr>
          <p:cNvPr id="3" name="Content Placeholder 2"/>
          <p:cNvSpPr>
            <a:spLocks noGrp="1"/>
          </p:cNvSpPr>
          <p:nvPr>
            <p:ph idx="1"/>
          </p:nvPr>
        </p:nvSpPr>
        <p:spPr>
          <a:xfrm>
            <a:off x="457200" y="1295400"/>
            <a:ext cx="8229600" cy="5410200"/>
          </a:xfrm>
        </p:spPr>
        <p:txBody>
          <a:bodyPr>
            <a:normAutofit lnSpcReduction="10000"/>
          </a:bodyPr>
          <a:lstStyle/>
          <a:p>
            <a:r>
              <a:rPr lang="en-US" dirty="0" smtClean="0"/>
              <a:t>Emile Durkheim argued that there are two different kinds of solidarity (unity) among people in a society that holds them together.</a:t>
            </a:r>
          </a:p>
          <a:p>
            <a:r>
              <a:rPr lang="en-US" b="1" dirty="0" smtClean="0"/>
              <a:t>Mechanical solidarity </a:t>
            </a:r>
          </a:p>
          <a:p>
            <a:r>
              <a:rPr lang="en-US" dirty="0" smtClean="0"/>
              <a:t>Characteristics of pre-industrial society </a:t>
            </a:r>
          </a:p>
          <a:p>
            <a:r>
              <a:rPr lang="en-US" dirty="0" smtClean="0"/>
              <a:t>In these societies, all of the people were of the same religion, the same culture, and did the same tasks. </a:t>
            </a:r>
          </a:p>
          <a:p>
            <a:r>
              <a:rPr lang="en-US" dirty="0" smtClean="0"/>
              <a:t>Similarity of interest and experience as well as no division of labor and differentiation of tasks. </a:t>
            </a:r>
          </a:p>
          <a:p>
            <a:r>
              <a:rPr lang="en-US" dirty="0" smtClean="0"/>
              <a:t>The social institutions perform almost all societal functions. </a:t>
            </a:r>
          </a:p>
          <a:p>
            <a:r>
              <a:rPr lang="en-US" dirty="0" smtClean="0"/>
              <a:t>There were shared values, norms and beliefs all of which help to hold society together.</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76400"/>
            <a:ext cx="8229600" cy="4876800"/>
          </a:xfrm>
        </p:spPr>
        <p:txBody>
          <a:bodyPr>
            <a:normAutofit lnSpcReduction="10000"/>
          </a:bodyPr>
          <a:lstStyle/>
          <a:p>
            <a:r>
              <a:rPr lang="en-US" b="1" dirty="0" smtClean="0"/>
              <a:t>Organic solidarity </a:t>
            </a:r>
          </a:p>
          <a:p>
            <a:r>
              <a:rPr lang="en-US" dirty="0" smtClean="0"/>
              <a:t>This occurs in the modern industrial type of society. </a:t>
            </a:r>
          </a:p>
          <a:p>
            <a:r>
              <a:rPr lang="en-US" dirty="0" smtClean="0"/>
              <a:t>In this type of society, there is a division of labor where people are engaged in specialized tasks and so their interests, values are different.</a:t>
            </a:r>
          </a:p>
          <a:p>
            <a:r>
              <a:rPr lang="en-US" dirty="0" smtClean="0"/>
              <a:t>Durkheim believed that being different would not mean an end to group solidarity, rather as people became more specialized and different, they became more dependent on each other. </a:t>
            </a:r>
          </a:p>
          <a:p>
            <a:r>
              <a:rPr lang="en-US" dirty="0" smtClean="0"/>
              <a:t>E.g. the farmer is dependent on blacksmiths for agricultural tools, a tailor for clothing, cobblers for shoes, etc.</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smtClean="0"/>
          </a:p>
          <a:p>
            <a:endParaRPr lang="en-US" dirty="0" smtClean="0"/>
          </a:p>
          <a:p>
            <a:endParaRPr lang="en-US" dirty="0" smtClean="0"/>
          </a:p>
          <a:p>
            <a:r>
              <a:rPr lang="en-US" dirty="0" smtClean="0"/>
              <a:t>                    </a:t>
            </a:r>
            <a:r>
              <a:rPr lang="en-US" sz="3200" b="1" dirty="0" smtClean="0"/>
              <a:t>Thank You All</a:t>
            </a:r>
            <a:endParaRPr lang="en-US" sz="3200" b="1"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904</TotalTime>
  <Words>1697</Words>
  <Application>Microsoft Office PowerPoint</Application>
  <PresentationFormat>On-screen Show (4:3)</PresentationFormat>
  <Paragraphs>155</Paragraphs>
  <Slides>30</Slides>
  <Notes>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Flow</vt:lpstr>
      <vt:lpstr>Classical Theorists</vt:lpstr>
      <vt:lpstr>August Comte</vt:lpstr>
      <vt:lpstr>Social Statics</vt:lpstr>
      <vt:lpstr>Slide 4</vt:lpstr>
      <vt:lpstr>Social Dynamics</vt:lpstr>
      <vt:lpstr>Law of three stages</vt:lpstr>
      <vt:lpstr>Slide 7</vt:lpstr>
      <vt:lpstr>Theological stage(&lt;1300A.D)</vt:lpstr>
      <vt:lpstr>Fetishism</vt:lpstr>
      <vt:lpstr>Polytheism </vt:lpstr>
      <vt:lpstr>Monotheism</vt:lpstr>
      <vt:lpstr>Metaphysical (1300-1800)</vt:lpstr>
      <vt:lpstr>Slide 13</vt:lpstr>
      <vt:lpstr>Positive/Scientific stage(1800-now)  </vt:lpstr>
      <vt:lpstr>Karl Marx (1818-1883)</vt:lpstr>
      <vt:lpstr>Conflict Theory</vt:lpstr>
      <vt:lpstr>Labour Theory of Alienation</vt:lpstr>
      <vt:lpstr>Historical Materialism </vt:lpstr>
      <vt:lpstr>Slide 19</vt:lpstr>
      <vt:lpstr>Slide 20</vt:lpstr>
      <vt:lpstr>Slide 21</vt:lpstr>
      <vt:lpstr>Emile Durkheim (1858-1917)</vt:lpstr>
      <vt:lpstr>Theory of suicide</vt:lpstr>
      <vt:lpstr>Types of Suicide</vt:lpstr>
      <vt:lpstr>Slide 25</vt:lpstr>
      <vt:lpstr>Slide 26</vt:lpstr>
      <vt:lpstr>Slide 27</vt:lpstr>
      <vt:lpstr>Social Solidarity</vt:lpstr>
      <vt:lpstr>Slide 29</vt:lpstr>
      <vt:lpstr>Slide 30</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Uder</cp:lastModifiedBy>
  <cp:revision>129</cp:revision>
  <dcterms:created xsi:type="dcterms:W3CDTF">2006-08-16T00:00:00Z</dcterms:created>
  <dcterms:modified xsi:type="dcterms:W3CDTF">2026-06-21T15:21:07Z</dcterms:modified>
</cp:coreProperties>
</file>
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3" r:id="rId4"/>
    <p:sldId id="258" r:id="rId5"/>
    <p:sldId id="260" r:id="rId6"/>
    <p:sldId id="280" r:id="rId7"/>
    <p:sldId id="306" r:id="rId8"/>
    <p:sldId id="321" r:id="rId9"/>
    <p:sldId id="322" r:id="rId10"/>
    <p:sldId id="283" r:id="rId11"/>
    <p:sldId id="284" r:id="rId12"/>
    <p:sldId id="285" r:id="rId13"/>
    <p:sldId id="286" r:id="rId14"/>
    <p:sldId id="313" r:id="rId15"/>
    <p:sldId id="314" r:id="rId16"/>
    <p:sldId id="315" r:id="rId17"/>
    <p:sldId id="316" r:id="rId18"/>
    <p:sldId id="317" r:id="rId19"/>
    <p:sldId id="318" r:id="rId20"/>
    <p:sldId id="319" r:id="rId21"/>
    <p:sldId id="320" r:id="rId22"/>
    <p:sldId id="288" r:id="rId23"/>
    <p:sldId id="289" r:id="rId24"/>
    <p:sldId id="290" r:id="rId25"/>
    <p:sldId id="291" r:id="rId26"/>
    <p:sldId id="307" r:id="rId27"/>
    <p:sldId id="308" r:id="rId28"/>
    <p:sldId id="309" r:id="rId29"/>
    <p:sldId id="310" r:id="rId30"/>
    <p:sldId id="311" r:id="rId31"/>
    <p:sldId id="312" r:id="rId32"/>
    <p:sldId id="303" r:id="rId33"/>
    <p:sldId id="300" r:id="rId34"/>
    <p:sldId id="301" r:id="rId35"/>
    <p:sldId id="302"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6" d="100"/>
          <a:sy n="86" d="100"/>
        </p:scale>
        <p:origin x="-109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7/27/2025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7/27/2025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7/27/2025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7/27/2025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7/27/2025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7/27/2025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Origin and Development of Sociology</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term “</a:t>
            </a:r>
            <a:r>
              <a:rPr lang="en-US" dirty="0" err="1" smtClean="0"/>
              <a:t>sociology”was</a:t>
            </a:r>
            <a:r>
              <a:rPr lang="en-US" dirty="0" smtClean="0"/>
              <a:t> coined in 1838 by </a:t>
            </a:r>
            <a:r>
              <a:rPr lang="en-US" dirty="0" err="1" smtClean="0"/>
              <a:t>Auguste</a:t>
            </a:r>
            <a:r>
              <a:rPr lang="en-US" dirty="0" smtClean="0"/>
              <a:t> Comte.</a:t>
            </a:r>
          </a:p>
          <a:p>
            <a:r>
              <a:rPr lang="en-US" dirty="0" smtClean="0"/>
              <a:t>But, sociological writings have a long background in history and are rooted in the works of philosophers such as Aristotle (384-322 B.C .), Plato (427-347 B.C.).</a:t>
            </a:r>
          </a:p>
          <a:p>
            <a:r>
              <a:rPr lang="en-US" dirty="0" smtClean="0"/>
              <a:t>Plato’s ‘Republic’ and in Aristotle’s ‘Ethics and Politics’ focused on methodical explanation of law, the state and society.</a:t>
            </a:r>
          </a:p>
          <a:p>
            <a:r>
              <a:rPr lang="en-US" dirty="0" smtClean="0"/>
              <a:t>Sir Thomas Moore in his book “Utopia” in 1515, dealt with day to day social problems. </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Italian writer </a:t>
            </a:r>
            <a:r>
              <a:rPr lang="en-US" dirty="0" err="1" smtClean="0"/>
              <a:t>Vico</a:t>
            </a:r>
            <a:r>
              <a:rPr lang="en-US" dirty="0" smtClean="0"/>
              <a:t> (1668–1744) in his book “The New Science” opined that society was subject to definite laws which could be observed through objective observation. </a:t>
            </a:r>
          </a:p>
          <a:p>
            <a:r>
              <a:rPr lang="en-US" dirty="0" smtClean="0"/>
              <a:t>French scholar Saint Simon(1760-1825) tried to develop a new science which would study social life like physics studies the physical world. </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724400"/>
          </a:xfrm>
        </p:spPr>
        <p:txBody>
          <a:bodyPr>
            <a:normAutofit fontScale="92500" lnSpcReduction="10000"/>
          </a:bodyPr>
          <a:lstStyle/>
          <a:p>
            <a:r>
              <a:rPr lang="en-US" dirty="0" smtClean="0"/>
              <a:t>14th century philosopher and historian </a:t>
            </a:r>
            <a:r>
              <a:rPr lang="en-US" dirty="0" err="1" smtClean="0"/>
              <a:t>Ibn</a:t>
            </a:r>
            <a:r>
              <a:rPr lang="en-US" dirty="0" smtClean="0"/>
              <a:t> </a:t>
            </a:r>
            <a:r>
              <a:rPr lang="en-US" dirty="0" err="1" smtClean="0"/>
              <a:t>Khaldun</a:t>
            </a:r>
            <a:r>
              <a:rPr lang="en-US" dirty="0" smtClean="0"/>
              <a:t> (1332-1406) often considered as one of the world’s first sociologists </a:t>
            </a:r>
          </a:p>
          <a:p>
            <a:r>
              <a:rPr lang="en-US" dirty="0" smtClean="0"/>
              <a:t>His works include; a social conflict theory, a description of political economy, and an investigation linking the level of social cohesion of a tribe to its capacity for power, all of which is believed to set the foundation of the development of modern sociology.</a:t>
            </a:r>
          </a:p>
          <a:p>
            <a:r>
              <a:rPr lang="en-US" dirty="0" smtClean="0"/>
              <a:t>In the 18th century, scholars such as John Locke, David Hume, Immanuel Kant, Voltaire, Thomas Hobbes and Jean Jacques </a:t>
            </a:r>
            <a:r>
              <a:rPr lang="en-US" dirty="0" err="1" smtClean="0"/>
              <a:t>Rosseau</a:t>
            </a:r>
            <a:r>
              <a:rPr lang="en-US" dirty="0" smtClean="0"/>
              <a:t> among others (often referred to as enlightenment philosophers) developed several theories and principles that explained social reality. </a:t>
            </a:r>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Despite the writings and contributions of early philosophers, the basis for sociology as a modern discipline was not established until the nineteenth century. </a:t>
            </a:r>
          </a:p>
          <a:p>
            <a:r>
              <a:rPr lang="en-US" dirty="0" smtClean="0"/>
              <a:t>The origin of sociology is attributed to the numerous developments in the 18th and19th century especially through the Enlightenment, the Industrial Revolution and the French Revolution.</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90600"/>
          </a:xfrm>
        </p:spPr>
        <p:txBody>
          <a:bodyPr/>
          <a:lstStyle/>
          <a:p>
            <a:r>
              <a:rPr lang="en-US" dirty="0" smtClean="0"/>
              <a:t>The Enlightenment</a:t>
            </a:r>
            <a:endParaRPr lang="en-US" dirty="0"/>
          </a:p>
        </p:txBody>
      </p:sp>
      <p:sp>
        <p:nvSpPr>
          <p:cNvPr id="3" name="Content Placeholder 2"/>
          <p:cNvSpPr>
            <a:spLocks noGrp="1"/>
          </p:cNvSpPr>
          <p:nvPr>
            <p:ph idx="1"/>
          </p:nvPr>
        </p:nvSpPr>
        <p:spPr>
          <a:xfrm>
            <a:off x="457200" y="1524000"/>
            <a:ext cx="8229600" cy="5105400"/>
          </a:xfrm>
        </p:spPr>
        <p:txBody>
          <a:bodyPr>
            <a:normAutofit/>
          </a:bodyPr>
          <a:lstStyle/>
          <a:p>
            <a:r>
              <a:rPr lang="en-US" dirty="0" smtClean="0"/>
              <a:t>The Enlightenment refers to an intellectual movement, primarily in France and Britain which spans approximately one hundred years from the1680s to 1789. </a:t>
            </a:r>
          </a:p>
          <a:p>
            <a:r>
              <a:rPr lang="en-US" dirty="0" smtClean="0"/>
              <a:t>It initiated in the years 1715 just after the death of Louis XIV and referred as ‘The Age of Reason’. </a:t>
            </a:r>
          </a:p>
          <a:p>
            <a:r>
              <a:rPr lang="en-US" dirty="0" smtClean="0"/>
              <a:t>The stage for the Enlightenment were writers and scientists who investigated the natural world and systems of thought, writers such as Galileo (Italian), </a:t>
            </a:r>
            <a:r>
              <a:rPr lang="en-US" dirty="0" smtClean="0"/>
              <a:t>Newton </a:t>
            </a:r>
            <a:r>
              <a:rPr lang="en-US" dirty="0" smtClean="0"/>
              <a:t>(English), Francis Bacon (1561-1626, English).</a:t>
            </a:r>
          </a:p>
          <a:p>
            <a:endParaRPr lang="en-US"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During the Enlightenment, thinkers such as Montesquieu, Voltaire, and Rousseau challenged traditional norms and institutions, such as the monarchy and the church, and called for greater individual liberty and equality. </a:t>
            </a:r>
          </a:p>
          <a:p>
            <a:r>
              <a:rPr lang="en-US" dirty="0" smtClean="0"/>
              <a:t>The writings of the Enlightenment profoundly affected politics and the development of sociology. </a:t>
            </a:r>
          </a:p>
          <a:p>
            <a:r>
              <a:rPr lang="en-US" dirty="0" smtClean="0"/>
              <a:t>These ideas inspired a more scientific and rational approach to understanding human society, and set the stage for the development of sociology as a discipline.</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Major issues </a:t>
            </a:r>
            <a:endParaRPr lang="en-US" dirty="0"/>
          </a:p>
        </p:txBody>
      </p:sp>
      <p:sp>
        <p:nvSpPr>
          <p:cNvPr id="3" name="Content Placeholder 2"/>
          <p:cNvSpPr>
            <a:spLocks noGrp="1"/>
          </p:cNvSpPr>
          <p:nvPr>
            <p:ph idx="1"/>
          </p:nvPr>
        </p:nvSpPr>
        <p:spPr/>
        <p:txBody>
          <a:bodyPr>
            <a:normAutofit/>
          </a:bodyPr>
          <a:lstStyle/>
          <a:p>
            <a:r>
              <a:rPr lang="en-US" dirty="0" smtClean="0"/>
              <a:t>Reason over religion</a:t>
            </a:r>
          </a:p>
          <a:p>
            <a:r>
              <a:rPr lang="en-US" dirty="0" smtClean="0"/>
              <a:t>Science over superstition</a:t>
            </a:r>
          </a:p>
          <a:p>
            <a:r>
              <a:rPr lang="en-US" dirty="0" smtClean="0"/>
              <a:t>Individual rights over authority</a:t>
            </a:r>
          </a:p>
          <a:p>
            <a:r>
              <a:rPr lang="en-US" dirty="0" smtClean="0"/>
              <a:t>Critical thinking and freedom</a:t>
            </a:r>
          </a:p>
          <a:p>
            <a:r>
              <a:rPr lang="en-US" dirty="0" smtClean="0"/>
              <a:t>Scientific method as a way to understand society and nature</a:t>
            </a:r>
          </a:p>
          <a:p>
            <a:r>
              <a:rPr lang="en-US" dirty="0" smtClean="0"/>
              <a:t>Individual freedom, rights, and democracy</a:t>
            </a:r>
          </a:p>
          <a:p>
            <a:r>
              <a:rPr lang="en-US" dirty="0" smtClean="0"/>
              <a:t>Critique of monarchy, religion, and feudal systems</a:t>
            </a:r>
          </a:p>
          <a:p>
            <a:r>
              <a:rPr lang="en-US" dirty="0" smtClean="0"/>
              <a:t>Belief in progress, equality, and reform</a:t>
            </a:r>
          </a:p>
          <a:p>
            <a:endParaRPr lang="en-US" dirty="0" smtClean="0"/>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Major Enlightenment Thinkers Who Influenced Sociology</a:t>
            </a:r>
            <a:endParaRPr lang="en-US" dirty="0"/>
          </a:p>
        </p:txBody>
      </p:sp>
      <p:graphicFrame>
        <p:nvGraphicFramePr>
          <p:cNvPr id="4" name="Content Placeholder 3"/>
          <p:cNvGraphicFramePr>
            <a:graphicFrameLocks noGrp="1"/>
          </p:cNvGraphicFramePr>
          <p:nvPr>
            <p:ph idx="1"/>
          </p:nvPr>
        </p:nvGraphicFramePr>
        <p:xfrm>
          <a:off x="457200" y="2514599"/>
          <a:ext cx="8229600" cy="4038600"/>
        </p:xfrm>
        <a:graphic>
          <a:graphicData uri="http://schemas.openxmlformats.org/drawingml/2006/table">
            <a:tbl>
              <a:tblPr firstRow="1" bandRow="1">
                <a:tableStyleId>{5C22544A-7EE6-4342-B048-85BDC9FD1C3A}</a:tableStyleId>
              </a:tblPr>
              <a:tblGrid>
                <a:gridCol w="2514600"/>
                <a:gridCol w="5715000"/>
              </a:tblGrid>
              <a:tr h="673100">
                <a:tc>
                  <a:txBody>
                    <a:bodyPr/>
                    <a:lstStyle/>
                    <a:p>
                      <a:r>
                        <a:rPr lang="en-US" dirty="0" smtClean="0"/>
                        <a:t>Thinker</a:t>
                      </a:r>
                      <a:endParaRPr lang="en-US" dirty="0"/>
                    </a:p>
                  </a:txBody>
                  <a:tcPr/>
                </a:tc>
                <a:tc>
                  <a:txBody>
                    <a:bodyPr/>
                    <a:lstStyle/>
                    <a:p>
                      <a:r>
                        <a:rPr lang="en-US" dirty="0" smtClean="0"/>
                        <a:t>Contribution to Sociology</a:t>
                      </a:r>
                      <a:endParaRPr lang="en-US" dirty="0"/>
                    </a:p>
                  </a:txBody>
                  <a:tcPr/>
                </a:tc>
              </a:tr>
              <a:tr h="673100">
                <a:tc>
                  <a:txBody>
                    <a:bodyPr/>
                    <a:lstStyle/>
                    <a:p>
                      <a:r>
                        <a:rPr lang="en-US" dirty="0" smtClean="0"/>
                        <a:t>John Locke</a:t>
                      </a:r>
                      <a:endParaRPr lang="en-US" dirty="0"/>
                    </a:p>
                  </a:txBody>
                  <a:tcPr/>
                </a:tc>
                <a:tc>
                  <a:txBody>
                    <a:bodyPr/>
                    <a:lstStyle/>
                    <a:p>
                      <a:r>
                        <a:rPr lang="en-US" dirty="0" smtClean="0"/>
                        <a:t>Concept of social contract, basis of liberal democracy</a:t>
                      </a:r>
                      <a:endParaRPr lang="en-US" dirty="0"/>
                    </a:p>
                  </a:txBody>
                  <a:tcPr/>
                </a:tc>
              </a:tr>
              <a:tr h="673100">
                <a:tc>
                  <a:txBody>
                    <a:bodyPr/>
                    <a:lstStyle/>
                    <a:p>
                      <a:r>
                        <a:rPr lang="en-US" dirty="0" smtClean="0"/>
                        <a:t>Jacques Rousseau</a:t>
                      </a:r>
                      <a:endParaRPr lang="en-US" dirty="0"/>
                    </a:p>
                  </a:txBody>
                  <a:tcPr/>
                </a:tc>
                <a:tc>
                  <a:txBody>
                    <a:bodyPr/>
                    <a:lstStyle/>
                    <a:p>
                      <a:r>
                        <a:rPr lang="en-US" dirty="0" smtClean="0"/>
                        <a:t>Focus on </a:t>
                      </a:r>
                      <a:r>
                        <a:rPr lang="en-US" b="0" dirty="0" smtClean="0"/>
                        <a:t>social structure and inequality</a:t>
                      </a:r>
                      <a:endParaRPr lang="en-US" b="0" dirty="0"/>
                    </a:p>
                  </a:txBody>
                  <a:tcPr/>
                </a:tc>
              </a:tr>
              <a:tr h="673100">
                <a:tc>
                  <a:txBody>
                    <a:bodyPr/>
                    <a:lstStyle/>
                    <a:p>
                      <a:r>
                        <a:rPr lang="en-US" dirty="0" smtClean="0"/>
                        <a:t>Voltaire</a:t>
                      </a:r>
                      <a:endParaRPr lang="en-US" dirty="0"/>
                    </a:p>
                  </a:txBody>
                  <a:tcPr/>
                </a:tc>
                <a:tc>
                  <a:txBody>
                    <a:bodyPr/>
                    <a:lstStyle/>
                    <a:p>
                      <a:r>
                        <a:rPr lang="en-US" dirty="0" smtClean="0"/>
                        <a:t>Promoted secularism and reason</a:t>
                      </a:r>
                      <a:endParaRPr lang="en-US" dirty="0"/>
                    </a:p>
                  </a:txBody>
                  <a:tcPr/>
                </a:tc>
              </a:tr>
              <a:tr h="673100">
                <a:tc>
                  <a:txBody>
                    <a:bodyPr/>
                    <a:lstStyle/>
                    <a:p>
                      <a:r>
                        <a:rPr lang="en-US" dirty="0" smtClean="0"/>
                        <a:t>Montesquieu</a:t>
                      </a:r>
                      <a:endParaRPr lang="en-US" dirty="0"/>
                    </a:p>
                  </a:txBody>
                  <a:tcPr/>
                </a:tc>
                <a:tc>
                  <a:txBody>
                    <a:bodyPr/>
                    <a:lstStyle/>
                    <a:p>
                      <a:r>
                        <a:rPr lang="en-US" dirty="0" smtClean="0"/>
                        <a:t>Separation of powers in government</a:t>
                      </a:r>
                      <a:endParaRPr lang="en-US" dirty="0"/>
                    </a:p>
                  </a:txBody>
                  <a:tcPr/>
                </a:tc>
              </a:tr>
              <a:tr h="673100">
                <a:tc>
                  <a:txBody>
                    <a:bodyPr/>
                    <a:lstStyle/>
                    <a:p>
                      <a:r>
                        <a:rPr lang="en-US" dirty="0" smtClean="0"/>
                        <a:t>Immanuel Kant</a:t>
                      </a:r>
                      <a:endParaRPr lang="en-US" dirty="0"/>
                    </a:p>
                  </a:txBody>
                  <a:tcPr/>
                </a:tc>
                <a:tc>
                  <a:txBody>
                    <a:bodyPr/>
                    <a:lstStyle/>
                    <a:p>
                      <a:r>
                        <a:rPr lang="en-US" dirty="0" smtClean="0"/>
                        <a:t>Focused on </a:t>
                      </a:r>
                      <a:r>
                        <a:rPr lang="en-US" b="0" dirty="0" smtClean="0"/>
                        <a:t>reason, ethics, and autonomy.</a:t>
                      </a:r>
                      <a:endParaRPr lang="en-US" b="0" dirty="0"/>
                    </a:p>
                  </a:txBody>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38200"/>
          </a:xfrm>
        </p:spPr>
        <p:txBody>
          <a:bodyPr/>
          <a:lstStyle/>
          <a:p>
            <a:r>
              <a:rPr lang="en-US" dirty="0" smtClean="0"/>
              <a:t>John Locke(1632-1704)</a:t>
            </a:r>
            <a:endParaRPr lang="en-US" dirty="0"/>
          </a:p>
        </p:txBody>
      </p:sp>
      <p:sp>
        <p:nvSpPr>
          <p:cNvPr id="3" name="Content Placeholder 2"/>
          <p:cNvSpPr>
            <a:spLocks noGrp="1"/>
          </p:cNvSpPr>
          <p:nvPr>
            <p:ph idx="1"/>
          </p:nvPr>
        </p:nvSpPr>
        <p:spPr>
          <a:xfrm>
            <a:off x="457200" y="1600200"/>
            <a:ext cx="8229600" cy="4724400"/>
          </a:xfrm>
        </p:spPr>
        <p:txBody>
          <a:bodyPr>
            <a:normAutofit/>
          </a:bodyPr>
          <a:lstStyle/>
          <a:p>
            <a:r>
              <a:rPr lang="en-US" dirty="0" smtClean="0"/>
              <a:t>Believed that people are basically moral and reasonable. They want to do the right thing.</a:t>
            </a:r>
          </a:p>
          <a:p>
            <a:r>
              <a:rPr lang="en-US" dirty="0" smtClean="0"/>
              <a:t>All people are born free &amp; equal with three natural rights- life, liberty, and property</a:t>
            </a:r>
          </a:p>
          <a:p>
            <a:r>
              <a:rPr lang="en-US" dirty="0" smtClean="0"/>
              <a:t>Government exists at the consent of the governed to protect their rights. If the government fails to protect these rights, the contract is broken and the people may change or replace the government.</a:t>
            </a:r>
          </a:p>
          <a:p>
            <a:r>
              <a:rPr lang="en-US" dirty="0" smtClean="0"/>
              <a:t>Wrote “Two Treatises of Government” stressing the best governments had limited power—not an absolute monarchy.</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90600"/>
          </a:xfrm>
        </p:spPr>
        <p:txBody>
          <a:bodyPr>
            <a:normAutofit/>
          </a:bodyPr>
          <a:lstStyle/>
          <a:p>
            <a:r>
              <a:rPr lang="en-US" dirty="0" smtClean="0"/>
              <a:t>Montesquieu (1689 –1755)</a:t>
            </a:r>
            <a:endParaRPr lang="en-US" dirty="0"/>
          </a:p>
        </p:txBody>
      </p:sp>
      <p:sp>
        <p:nvSpPr>
          <p:cNvPr id="3" name="Content Placeholder 2"/>
          <p:cNvSpPr>
            <a:spLocks noGrp="1"/>
          </p:cNvSpPr>
          <p:nvPr>
            <p:ph idx="1"/>
          </p:nvPr>
        </p:nvSpPr>
        <p:spPr>
          <a:xfrm>
            <a:off x="457200" y="1600200"/>
            <a:ext cx="8229600" cy="5105400"/>
          </a:xfrm>
        </p:spPr>
        <p:txBody>
          <a:bodyPr>
            <a:normAutofit fontScale="92500"/>
          </a:bodyPr>
          <a:lstStyle/>
          <a:p>
            <a:r>
              <a:rPr lang="en-US" dirty="0" smtClean="0"/>
              <a:t>Montesquieu in his famous work “The Spirit of Laws” had </a:t>
            </a:r>
            <a:r>
              <a:rPr lang="en-US" dirty="0" err="1" smtClean="0"/>
              <a:t>analysed</a:t>
            </a:r>
            <a:r>
              <a:rPr lang="en-US" dirty="0" smtClean="0"/>
              <a:t> the role of external factors in life of human societies </a:t>
            </a:r>
          </a:p>
          <a:p>
            <a:r>
              <a:rPr lang="en-US" dirty="0" smtClean="0"/>
              <a:t>He argued as Locke and Thomas Jefferson that all people were created equal. If the King did not have the right to rule, then the people had the right to rebel which they did. </a:t>
            </a:r>
          </a:p>
          <a:p>
            <a:r>
              <a:rPr lang="en-US" dirty="0" smtClean="0"/>
              <a:t>Believed </a:t>
            </a:r>
            <a:r>
              <a:rPr lang="en-US" dirty="0" err="1" smtClean="0"/>
              <a:t>gov’t</a:t>
            </a:r>
            <a:r>
              <a:rPr lang="en-US" dirty="0" smtClean="0"/>
              <a:t> should be split into these three branches, and that each branch should be able to serve as a check on the other two:</a:t>
            </a:r>
          </a:p>
          <a:p>
            <a:r>
              <a:rPr lang="en-US" dirty="0" smtClean="0"/>
              <a:t>-Executive (enforces laws)</a:t>
            </a:r>
          </a:p>
          <a:p>
            <a:r>
              <a:rPr lang="en-US" dirty="0" smtClean="0"/>
              <a:t>-Legislative (makes the laws)</a:t>
            </a:r>
          </a:p>
          <a:p>
            <a:r>
              <a:rPr lang="en-US" dirty="0" smtClean="0"/>
              <a:t>-Judicial (applies laws)</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38200"/>
          </a:xfrm>
        </p:spPr>
        <p:txBody>
          <a:bodyPr/>
          <a:lstStyle/>
          <a:p>
            <a:r>
              <a:rPr lang="en-US" dirty="0" smtClean="0"/>
              <a:t>Voltaire(1694-1778)</a:t>
            </a:r>
            <a:endParaRPr lang="en-US" dirty="0"/>
          </a:p>
        </p:txBody>
      </p:sp>
      <p:sp>
        <p:nvSpPr>
          <p:cNvPr id="3" name="Content Placeholder 2"/>
          <p:cNvSpPr>
            <a:spLocks noGrp="1"/>
          </p:cNvSpPr>
          <p:nvPr>
            <p:ph idx="1"/>
          </p:nvPr>
        </p:nvSpPr>
        <p:spPr>
          <a:xfrm>
            <a:off x="457200" y="1371600"/>
            <a:ext cx="8229600" cy="5257800"/>
          </a:xfrm>
        </p:spPr>
        <p:txBody>
          <a:bodyPr>
            <a:normAutofit lnSpcReduction="10000"/>
          </a:bodyPr>
          <a:lstStyle/>
          <a:p>
            <a:r>
              <a:rPr lang="en-US" dirty="0" smtClean="0"/>
              <a:t>Believed in the freedom of press and used it to expose the abuses of corrupt political and church leaders.</a:t>
            </a:r>
          </a:p>
          <a:p>
            <a:r>
              <a:rPr lang="en-US" dirty="0" smtClean="0"/>
              <a:t>Fought for civil liberties- rights/freedoms of citizens</a:t>
            </a:r>
          </a:p>
          <a:p>
            <a:r>
              <a:rPr lang="en-US" dirty="0" smtClean="0"/>
              <a:t>-Freedom of Speech</a:t>
            </a:r>
          </a:p>
          <a:p>
            <a:r>
              <a:rPr lang="en-US" dirty="0" smtClean="0"/>
              <a:t>-Freedom of Religion</a:t>
            </a:r>
          </a:p>
          <a:p>
            <a:r>
              <a:rPr lang="en-US" dirty="0" smtClean="0"/>
              <a:t>-Separation of Church and State</a:t>
            </a:r>
          </a:p>
          <a:p>
            <a:r>
              <a:rPr lang="en-US" dirty="0" smtClean="0"/>
              <a:t>Believed that humanity’s worst enemies were intolerance, prejudice &amp; superstition</a:t>
            </a:r>
          </a:p>
          <a:p>
            <a:r>
              <a:rPr lang="en-US" dirty="0" smtClean="0"/>
              <a:t>His writings angered government and church officials. </a:t>
            </a:r>
          </a:p>
          <a:p>
            <a:r>
              <a:rPr lang="en-US" dirty="0" smtClean="0"/>
              <a:t>He was imprisoned and forced into exile. </a:t>
            </a:r>
          </a:p>
          <a:p>
            <a:r>
              <a:rPr lang="en-US" dirty="0" smtClean="0"/>
              <a:t>To stop his ideas from spreading his books and writings were outlawed and burned.</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14400"/>
          </a:xfrm>
        </p:spPr>
        <p:txBody>
          <a:bodyPr>
            <a:normAutofit/>
          </a:bodyPr>
          <a:lstStyle/>
          <a:p>
            <a:r>
              <a:rPr lang="en-US" dirty="0" smtClean="0"/>
              <a:t>Jacques Rousseau(1712-1778)</a:t>
            </a:r>
            <a:endParaRPr lang="en-US" dirty="0"/>
          </a:p>
        </p:txBody>
      </p:sp>
      <p:sp>
        <p:nvSpPr>
          <p:cNvPr id="3" name="Content Placeholder 2"/>
          <p:cNvSpPr>
            <a:spLocks noGrp="1"/>
          </p:cNvSpPr>
          <p:nvPr>
            <p:ph idx="1"/>
          </p:nvPr>
        </p:nvSpPr>
        <p:spPr>
          <a:xfrm>
            <a:off x="304800" y="1295400"/>
            <a:ext cx="8610600" cy="5410200"/>
          </a:xfrm>
        </p:spPr>
        <p:txBody>
          <a:bodyPr>
            <a:noAutofit/>
          </a:bodyPr>
          <a:lstStyle/>
          <a:p>
            <a:r>
              <a:rPr lang="en-US" sz="2200" dirty="0" smtClean="0"/>
              <a:t>Rousseau wrote “The Social Contract” where he lays out his ideas of government and society</a:t>
            </a:r>
          </a:p>
          <a:p>
            <a:r>
              <a:rPr lang="en-US" sz="2200" dirty="0" smtClean="0"/>
              <a:t>Believed that people were naturally good, but were corrupted by society</a:t>
            </a:r>
          </a:p>
          <a:p>
            <a:r>
              <a:rPr lang="en-US" sz="2200" dirty="0" smtClean="0"/>
              <a:t>Unequal distribution of property was an especially great evil of society</a:t>
            </a:r>
          </a:p>
          <a:p>
            <a:r>
              <a:rPr lang="en-US" sz="2200" dirty="0" smtClean="0"/>
              <a:t>Stressed the importance of the general will- the will of the people as a whole</a:t>
            </a:r>
          </a:p>
          <a:p>
            <a:r>
              <a:rPr lang="en-US" sz="2200" dirty="0" smtClean="0"/>
              <a:t>Hated all forms of political and economic oppression</a:t>
            </a:r>
          </a:p>
          <a:p>
            <a:r>
              <a:rPr lang="en-US" sz="2200" dirty="0" smtClean="0"/>
              <a:t>Sovereignty (the power to make laws) should be in the hands of the people, and therefore the only good government is a direct democracy</a:t>
            </a:r>
            <a:endParaRPr lang="en-US" sz="2200" dirty="0"/>
          </a:p>
          <a:p>
            <a:endParaRPr lang="en-US" sz="20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Most influential sociologists:</a:t>
            </a:r>
          </a:p>
          <a:p>
            <a:r>
              <a:rPr lang="en-US" dirty="0" err="1" smtClean="0"/>
              <a:t>Auguste</a:t>
            </a:r>
            <a:r>
              <a:rPr lang="en-US" dirty="0" smtClean="0"/>
              <a:t> Comte</a:t>
            </a:r>
          </a:p>
          <a:p>
            <a:r>
              <a:rPr lang="en-US" dirty="0" smtClean="0"/>
              <a:t>Karl Marx</a:t>
            </a:r>
          </a:p>
          <a:p>
            <a:r>
              <a:rPr lang="en-US" dirty="0" smtClean="0"/>
              <a:t>Herbert Spencer</a:t>
            </a:r>
          </a:p>
          <a:p>
            <a:r>
              <a:rPr lang="en-US" dirty="0" smtClean="0"/>
              <a:t>Emile Durkheim</a:t>
            </a:r>
          </a:p>
          <a:p>
            <a:r>
              <a:rPr lang="en-US" dirty="0" smtClean="0"/>
              <a:t>Max Weber</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Auguste</a:t>
            </a:r>
            <a:r>
              <a:rPr lang="en-US" dirty="0" smtClean="0"/>
              <a:t> Comte(1798-1857)</a:t>
            </a:r>
            <a:endParaRPr lang="en-US" dirty="0"/>
          </a:p>
        </p:txBody>
      </p:sp>
      <p:sp>
        <p:nvSpPr>
          <p:cNvPr id="3" name="Content Placeholder 2"/>
          <p:cNvSpPr>
            <a:spLocks noGrp="1"/>
          </p:cNvSpPr>
          <p:nvPr>
            <p:ph idx="1"/>
          </p:nvPr>
        </p:nvSpPr>
        <p:spPr/>
        <p:txBody>
          <a:bodyPr>
            <a:normAutofit lnSpcReduction="10000"/>
          </a:bodyPr>
          <a:lstStyle/>
          <a:p>
            <a:r>
              <a:rPr lang="en-US" dirty="0" smtClean="0"/>
              <a:t>Founder of Sociology because he first used the term Sociology as the study of society</a:t>
            </a:r>
          </a:p>
          <a:p>
            <a:r>
              <a:rPr lang="en-US" dirty="0" smtClean="0"/>
              <a:t>Lived during the French Revolution and believed his philosophy would bring stability to the world;</a:t>
            </a:r>
          </a:p>
          <a:p>
            <a:r>
              <a:rPr lang="en-US" dirty="0" smtClean="0"/>
              <a:t>Believed sociologists should use the scientific methods to uncover the laws that govern the operation of society;</a:t>
            </a:r>
          </a:p>
          <a:p>
            <a:r>
              <a:rPr lang="en-US" b="1" dirty="0" smtClean="0"/>
              <a:t>Comte wanted</a:t>
            </a:r>
            <a:r>
              <a:rPr lang="en-US" dirty="0" smtClean="0"/>
              <a:t> to use </a:t>
            </a:r>
            <a:r>
              <a:rPr lang="en-US" dirty="0" err="1" smtClean="0"/>
              <a:t>scientiﬁc</a:t>
            </a:r>
            <a:r>
              <a:rPr lang="en-US" dirty="0" smtClean="0"/>
              <a:t> observation to study social behavior </a:t>
            </a:r>
          </a:p>
          <a:p>
            <a:r>
              <a:rPr lang="en-US" dirty="0" smtClean="0"/>
              <a:t>He called this positivism - should be a science on knowledge of which we can be “positive”, or sure </a:t>
            </a:r>
          </a:p>
          <a:p>
            <a:endParaRPr lang="en-US"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He also distinguished between studying social stability and order (social statics) and study of social change (social dynamics)</a:t>
            </a:r>
          </a:p>
          <a:p>
            <a:r>
              <a:rPr lang="en-US" dirty="0" smtClean="0"/>
              <a:t>Used the term </a:t>
            </a:r>
            <a:r>
              <a:rPr lang="en-US" b="1" dirty="0" smtClean="0"/>
              <a:t>social statics </a:t>
            </a:r>
            <a:r>
              <a:rPr lang="en-US" dirty="0" smtClean="0"/>
              <a:t>to describe the processes by which the overall structure of a society remains relatively stable, or unchanged, over time… relates to order</a:t>
            </a:r>
          </a:p>
          <a:p>
            <a:r>
              <a:rPr lang="en-US" dirty="0" smtClean="0"/>
              <a:t>Used the term </a:t>
            </a:r>
            <a:r>
              <a:rPr lang="en-US" b="1" dirty="0" smtClean="0"/>
              <a:t>social dynamics </a:t>
            </a:r>
            <a:r>
              <a:rPr lang="en-US" dirty="0" smtClean="0"/>
              <a:t>to the processes by which elements within the society change in a systematic fashion to allow for social development  … relates to change  </a:t>
            </a:r>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14400"/>
          </a:xfrm>
        </p:spPr>
        <p:txBody>
          <a:bodyPr/>
          <a:lstStyle/>
          <a:p>
            <a:r>
              <a:rPr lang="en-US" dirty="0" smtClean="0"/>
              <a:t>Karl Marx (1818-1883)</a:t>
            </a:r>
            <a:endParaRPr lang="en-US" dirty="0"/>
          </a:p>
        </p:txBody>
      </p:sp>
      <p:sp>
        <p:nvSpPr>
          <p:cNvPr id="3" name="Content Placeholder 2"/>
          <p:cNvSpPr>
            <a:spLocks noGrp="1"/>
          </p:cNvSpPr>
          <p:nvPr>
            <p:ph idx="1"/>
          </p:nvPr>
        </p:nvSpPr>
        <p:spPr>
          <a:xfrm>
            <a:off x="457200" y="1447800"/>
            <a:ext cx="8229600" cy="4876800"/>
          </a:xfrm>
        </p:spPr>
        <p:txBody>
          <a:bodyPr>
            <a:normAutofit fontScale="85000" lnSpcReduction="20000"/>
          </a:bodyPr>
          <a:lstStyle/>
          <a:p>
            <a:r>
              <a:rPr lang="en-US" sz="3100" dirty="0" smtClean="0">
                <a:cs typeface="Times New Roman" pitchFamily="18" charset="0"/>
              </a:rPr>
              <a:t>Got his doctorate from the University of Berlin, </a:t>
            </a:r>
          </a:p>
          <a:p>
            <a:r>
              <a:rPr lang="en-US" sz="3100" dirty="0" smtClean="0">
                <a:cs typeface="Times New Roman" pitchFamily="18" charset="0"/>
              </a:rPr>
              <a:t>Moved to Paris but was expelled from there at the request of the German government…moved to Brussels and then London</a:t>
            </a:r>
          </a:p>
          <a:p>
            <a:r>
              <a:rPr lang="en-US" sz="3100" dirty="0" smtClean="0">
                <a:cs typeface="Times New Roman" pitchFamily="18" charset="0"/>
              </a:rPr>
              <a:t>Believed that the overall structure of society is influenced by how the economy is organized;</a:t>
            </a:r>
          </a:p>
          <a:p>
            <a:r>
              <a:rPr lang="en-US" sz="3100" dirty="0" smtClean="0">
                <a:cs typeface="Times New Roman" pitchFamily="18" charset="0"/>
              </a:rPr>
              <a:t>Society is divided into two: Those that own the means of production and those who own only their labor</a:t>
            </a:r>
          </a:p>
          <a:p>
            <a:r>
              <a:rPr lang="en-US" sz="3100" dirty="0" smtClean="0">
                <a:cs typeface="Times New Roman" pitchFamily="18" charset="0"/>
              </a:rPr>
              <a:t>This imbalance of power leads to a conflict between owners and laborers</a:t>
            </a:r>
          </a:p>
          <a:p>
            <a:r>
              <a:rPr lang="en-US" sz="3100" dirty="0" smtClean="0">
                <a:cs typeface="Times New Roman" pitchFamily="18" charset="0"/>
              </a:rPr>
              <a:t>Saw that the ills of the capitalist system would not be solved until the workers overthrew those in power.</a:t>
            </a: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Herbert Spencer(1820-1903)</a:t>
            </a:r>
            <a:endParaRPr lang="en-US" dirty="0"/>
          </a:p>
        </p:txBody>
      </p:sp>
      <p:sp>
        <p:nvSpPr>
          <p:cNvPr id="3" name="Content Placeholder 2"/>
          <p:cNvSpPr>
            <a:spLocks noGrp="1"/>
          </p:cNvSpPr>
          <p:nvPr>
            <p:ph idx="1"/>
          </p:nvPr>
        </p:nvSpPr>
        <p:spPr/>
        <p:txBody>
          <a:bodyPr>
            <a:normAutofit/>
          </a:bodyPr>
          <a:lstStyle/>
          <a:p>
            <a:r>
              <a:rPr lang="en-US" dirty="0" smtClean="0"/>
              <a:t>Influenced by Charles Darwin and so adopted a biological model of society</a:t>
            </a:r>
          </a:p>
          <a:p>
            <a:r>
              <a:rPr lang="en-US" dirty="0" smtClean="0"/>
              <a:t>In a living organism, the biological systems work together to maintain the health of the organism… so he saw society as a set of independent parts that work together to maintain the system over time</a:t>
            </a:r>
          </a:p>
          <a:p>
            <a:r>
              <a:rPr lang="en-US" dirty="0" smtClean="0"/>
              <a:t>Took the theory of evolution to describe the nature of society: saw social change and unrest to be natural occurrences in a society’s evolution toward stability and perfection</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Thought that since the best aspects of society will survive over time [“survival of the fittest”], we shouldn’t correct social ills</a:t>
            </a:r>
          </a:p>
          <a:p>
            <a:r>
              <a:rPr lang="en-US" dirty="0" smtClean="0"/>
              <a:t>Thought that the fittest societies would survive over time, which will lead to a general upgrade of the world as a whole</a:t>
            </a:r>
          </a:p>
          <a:p>
            <a:r>
              <a:rPr lang="en-US" dirty="0" smtClean="0"/>
              <a:t>Started type of sociology called Social Darwinism: the perspective that holds that societies evolve toward stability and perfection</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Emile Durkheim(1858-1917)</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French, taught philosophy before switching and offering the first social science course in France</a:t>
            </a:r>
          </a:p>
          <a:p>
            <a:r>
              <a:rPr lang="en-US" dirty="0" smtClean="0"/>
              <a:t>First to apply the scientific method to the study of society</a:t>
            </a:r>
          </a:p>
          <a:p>
            <a:r>
              <a:rPr lang="en-US" dirty="0" smtClean="0"/>
              <a:t>Focused on social order and like Spencer, saw society as interdependent parts that maintain the system over time</a:t>
            </a:r>
          </a:p>
          <a:p>
            <a:r>
              <a:rPr lang="en-US" dirty="0" smtClean="0"/>
              <a:t>Saw those roles as functions</a:t>
            </a:r>
          </a:p>
          <a:p>
            <a:r>
              <a:rPr lang="en-US" dirty="0" smtClean="0"/>
              <a:t>A function is a positive consequence that an element of society has for the maintenance of the social system</a:t>
            </a:r>
          </a:p>
          <a:p>
            <a:r>
              <a:rPr lang="en-US" dirty="0" smtClean="0"/>
              <a:t>Shared beliefs and values are the glue that holds society together</a:t>
            </a:r>
          </a:p>
          <a:p>
            <a:r>
              <a:rPr lang="en-US" dirty="0" smtClean="0"/>
              <a:t>Especially how religion maintains social order and suicide</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fontScale="90000"/>
          </a:bodyPr>
          <a:lstStyle/>
          <a:p>
            <a:r>
              <a:rPr lang="en-US" dirty="0" smtClean="0"/>
              <a:t>Max Weber(1864-1920)</a:t>
            </a:r>
            <a:endParaRPr lang="en-US" dirty="0"/>
          </a:p>
        </p:txBody>
      </p:sp>
      <p:sp>
        <p:nvSpPr>
          <p:cNvPr id="3" name="Content Placeholder 2"/>
          <p:cNvSpPr>
            <a:spLocks noGrp="1"/>
          </p:cNvSpPr>
          <p:nvPr>
            <p:ph idx="1"/>
          </p:nvPr>
        </p:nvSpPr>
        <p:spPr>
          <a:xfrm>
            <a:off x="457200" y="1143000"/>
            <a:ext cx="8229600" cy="5181600"/>
          </a:xfrm>
        </p:spPr>
        <p:txBody>
          <a:bodyPr>
            <a:noAutofit/>
          </a:bodyPr>
          <a:lstStyle/>
          <a:p>
            <a:r>
              <a:rPr lang="en-US" sz="2400" dirty="0" smtClean="0"/>
              <a:t>Max Weber created his own theory of </a:t>
            </a:r>
            <a:r>
              <a:rPr lang="en-US" sz="2400" b="1" dirty="0" smtClean="0"/>
              <a:t>social stratification</a:t>
            </a:r>
            <a:r>
              <a:rPr lang="en-US" sz="2400" dirty="0" smtClean="0"/>
              <a:t>, defining social differences through three components: class, status, and power. </a:t>
            </a:r>
          </a:p>
          <a:p>
            <a:r>
              <a:rPr lang="en-US" sz="2400" dirty="0" smtClean="0"/>
              <a:t>Here, Class is a </a:t>
            </a:r>
            <a:r>
              <a:rPr lang="en-US" sz="2400" dirty="0" err="1" smtClean="0"/>
              <a:t>person”s</a:t>
            </a:r>
            <a:r>
              <a:rPr lang="en-US" sz="2400" dirty="0" smtClean="0"/>
              <a:t> economic position based on both birth and individual achievement.</a:t>
            </a:r>
          </a:p>
          <a:p>
            <a:r>
              <a:rPr lang="en-US" sz="2400" dirty="0" smtClean="0"/>
              <a:t>Status is </a:t>
            </a:r>
            <a:r>
              <a:rPr lang="en-US" sz="2400" dirty="0" err="1" smtClean="0"/>
              <a:t>one”s</a:t>
            </a:r>
            <a:r>
              <a:rPr lang="en-US" sz="2400" dirty="0" smtClean="0"/>
              <a:t> social prestige or honor either influenced or not influenced by class; </a:t>
            </a:r>
          </a:p>
          <a:p>
            <a:r>
              <a:rPr lang="en-US" sz="2400" dirty="0" smtClean="0"/>
              <a:t>Power is the ability for someone to achieve their goals despite the resistance of others.</a:t>
            </a:r>
            <a:endParaRPr lang="en-US" sz="24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French Revolution</a:t>
            </a:r>
            <a:endParaRPr lang="en-US" dirty="0"/>
          </a:p>
        </p:txBody>
      </p:sp>
      <p:sp>
        <p:nvSpPr>
          <p:cNvPr id="3" name="Content Placeholder 2"/>
          <p:cNvSpPr>
            <a:spLocks noGrp="1"/>
          </p:cNvSpPr>
          <p:nvPr>
            <p:ph idx="1"/>
          </p:nvPr>
        </p:nvSpPr>
        <p:spPr/>
        <p:txBody>
          <a:bodyPr/>
          <a:lstStyle/>
          <a:p>
            <a:r>
              <a:rPr lang="en-US" dirty="0" smtClean="0"/>
              <a:t>French Revolution(1789) was the mass uprising of the people of France against the dictatorial and anti-people policies of the monarch. </a:t>
            </a:r>
          </a:p>
          <a:p>
            <a:endParaRPr lang="en-US" dirty="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990600"/>
          </a:xfrm>
        </p:spPr>
        <p:txBody>
          <a:bodyPr/>
          <a:lstStyle/>
          <a:p>
            <a:r>
              <a:rPr lang="en-US" b="1" dirty="0" smtClean="0"/>
              <a:t>Social Cause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French society in the 18th century was divided into three estates Clergy, Nobles &amp; Common people. </a:t>
            </a:r>
          </a:p>
          <a:p>
            <a:r>
              <a:rPr lang="en-US" dirty="0" smtClean="0"/>
              <a:t>The members of the first two estates, enjoyed privileges by birth. </a:t>
            </a:r>
          </a:p>
          <a:p>
            <a:r>
              <a:rPr lang="en-US" dirty="0" smtClean="0"/>
              <a:t>Peasants made up about 90% of the population, however, only a small number of them owned the land they cultivated. </a:t>
            </a:r>
          </a:p>
          <a:p>
            <a:r>
              <a:rPr lang="en-US" dirty="0" smtClean="0"/>
              <a:t>About 60% of the land was owned by nobles and church which they leased to peasants for greater share in the production. </a:t>
            </a:r>
          </a:p>
          <a:p>
            <a:r>
              <a:rPr lang="en-US" dirty="0" smtClean="0"/>
              <a:t>Peasants were obliged (bound) to render free services to the lord- to work in his house and fields to serve in the army or to participate in building roads.</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14400"/>
          </a:xfrm>
        </p:spPr>
        <p:txBody>
          <a:bodyPr/>
          <a:lstStyle/>
          <a:p>
            <a:r>
              <a:rPr lang="en-US" b="1" dirty="0" smtClean="0"/>
              <a:t>ECONOMIC CAUSES</a:t>
            </a:r>
            <a:endParaRPr lang="en-US" dirty="0"/>
          </a:p>
        </p:txBody>
      </p:sp>
      <p:sp>
        <p:nvSpPr>
          <p:cNvPr id="3" name="Content Placeholder 2"/>
          <p:cNvSpPr>
            <a:spLocks noGrp="1"/>
          </p:cNvSpPr>
          <p:nvPr>
            <p:ph idx="1"/>
          </p:nvPr>
        </p:nvSpPr>
        <p:spPr>
          <a:xfrm>
            <a:off x="457200" y="1600200"/>
            <a:ext cx="8229600" cy="5105400"/>
          </a:xfrm>
        </p:spPr>
        <p:txBody>
          <a:bodyPr>
            <a:normAutofit fontScale="92500" lnSpcReduction="20000"/>
          </a:bodyPr>
          <a:lstStyle/>
          <a:p>
            <a:r>
              <a:rPr lang="en-US" sz="2900" b="1" dirty="0" smtClean="0"/>
              <a:t>French </a:t>
            </a:r>
            <a:r>
              <a:rPr lang="en-US" sz="2900" dirty="0" smtClean="0"/>
              <a:t>economy was based on revenue from land and on feudal system. </a:t>
            </a:r>
          </a:p>
          <a:p>
            <a:r>
              <a:rPr lang="en-US" sz="2900" dirty="0" smtClean="0"/>
              <a:t>During Louis XVI, France had 2 billion liver ( French currency) debt ( loan ).</a:t>
            </a:r>
          </a:p>
          <a:p>
            <a:r>
              <a:rPr lang="en-US" sz="2900" dirty="0" smtClean="0"/>
              <a:t>The government charged huge taxes from third estate. </a:t>
            </a:r>
          </a:p>
          <a:p>
            <a:r>
              <a:rPr lang="en-US" sz="2900" dirty="0" smtClean="0"/>
              <a:t>First two estates were exempted from paying.</a:t>
            </a:r>
          </a:p>
          <a:p>
            <a:r>
              <a:rPr lang="en-US" sz="2900" dirty="0" smtClean="0"/>
              <a:t>The population of France rose from about 23 million in 1715 to 28 million in 1789. </a:t>
            </a:r>
          </a:p>
          <a:p>
            <a:r>
              <a:rPr lang="en-US" sz="2900" dirty="0" smtClean="0"/>
              <a:t>High prices of the food grains. </a:t>
            </a:r>
          </a:p>
          <a:p>
            <a:r>
              <a:rPr lang="en-US" sz="2900" dirty="0" smtClean="0"/>
              <a:t>Low  wages of workers.</a:t>
            </a:r>
          </a:p>
          <a:p>
            <a:r>
              <a:rPr lang="en-US" sz="2900" dirty="0" smtClean="0"/>
              <a:t>Useless wars </a:t>
            </a:r>
          </a:p>
          <a:p>
            <a:endParaRPr lang="en-US" sz="29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POLITICAL CAUSES</a:t>
            </a:r>
            <a:endParaRPr lang="en-US" dirty="0"/>
          </a:p>
        </p:txBody>
      </p:sp>
      <p:sp>
        <p:nvSpPr>
          <p:cNvPr id="3" name="Content Placeholder 2"/>
          <p:cNvSpPr>
            <a:spLocks noGrp="1"/>
          </p:cNvSpPr>
          <p:nvPr>
            <p:ph idx="1"/>
          </p:nvPr>
        </p:nvSpPr>
        <p:spPr/>
        <p:txBody>
          <a:bodyPr/>
          <a:lstStyle/>
          <a:p>
            <a:r>
              <a:rPr lang="en-US" dirty="0" smtClean="0"/>
              <a:t>In 1774, Louis XVI ascended the throne of France. </a:t>
            </a:r>
          </a:p>
          <a:p>
            <a:r>
              <a:rPr lang="en-US" dirty="0" smtClean="0"/>
              <a:t>He was 20 years old when he married to the Austrian princes Marie Antoinette who always interfered with the administration. </a:t>
            </a:r>
          </a:p>
          <a:p>
            <a:r>
              <a:rPr lang="en-US" dirty="0" smtClean="0"/>
              <a:t>He ruled as an absolute monarch. </a:t>
            </a:r>
          </a:p>
          <a:p>
            <a:r>
              <a:rPr lang="en-US" dirty="0" smtClean="0"/>
              <a:t>He had maintained a huge army and built a big extravagant court at the immense palace of Versailles which drained the wealth of France.</a:t>
            </a:r>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14400"/>
          </a:xfrm>
        </p:spPr>
        <p:txBody>
          <a:bodyPr/>
          <a:lstStyle/>
          <a:p>
            <a:r>
              <a:rPr lang="en-US" dirty="0" smtClean="0"/>
              <a:t>Industrial Revolution</a:t>
            </a:r>
            <a:endParaRPr lang="en-US" dirty="0"/>
          </a:p>
        </p:txBody>
      </p:sp>
      <p:sp>
        <p:nvSpPr>
          <p:cNvPr id="3" name="Content Placeholder 2"/>
          <p:cNvSpPr>
            <a:spLocks noGrp="1"/>
          </p:cNvSpPr>
          <p:nvPr>
            <p:ph idx="1"/>
          </p:nvPr>
        </p:nvSpPr>
        <p:spPr>
          <a:xfrm>
            <a:off x="457200" y="1752600"/>
            <a:ext cx="8229600" cy="4572000"/>
          </a:xfrm>
        </p:spPr>
        <p:txBody>
          <a:bodyPr/>
          <a:lstStyle/>
          <a:p>
            <a:r>
              <a:rPr lang="en-US" i="1" dirty="0" smtClean="0"/>
              <a:t>A Revolution is a rapid, total and permanent change.</a:t>
            </a:r>
          </a:p>
          <a:p>
            <a:pPr>
              <a:defRPr/>
            </a:pPr>
            <a:r>
              <a:rPr lang="en-US" dirty="0" smtClean="0"/>
              <a:t>The Industrial Revolution changed human life drastically.</a:t>
            </a:r>
          </a:p>
          <a:p>
            <a:pPr>
              <a:defRPr/>
            </a:pPr>
            <a:r>
              <a:rPr lang="en-US" dirty="0" smtClean="0"/>
              <a:t>More was created in the last 250+ years than in the previous 2500+ years of known human history.</a:t>
            </a:r>
          </a:p>
          <a:p>
            <a:pPr>
              <a:defRPr/>
            </a:pPr>
            <a:r>
              <a:rPr lang="en-US" dirty="0" smtClean="0"/>
              <a:t>The term Industrial Revolution was first popularized by the English economic historian  </a:t>
            </a:r>
            <a:r>
              <a:rPr lang="en-US" b="1" dirty="0" smtClean="0"/>
              <a:t>Arnold Toynbee </a:t>
            </a:r>
            <a:r>
              <a:rPr lang="en-US" dirty="0" smtClean="0"/>
              <a:t>(1852–83) to describe Britain’s economic development from 1760 to 1840. </a:t>
            </a:r>
          </a:p>
          <a:p>
            <a:pPr>
              <a:defRPr/>
            </a:pPr>
            <a:endParaRPr lang="en-US" dirty="0" smtClean="0"/>
          </a:p>
          <a:p>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371600"/>
            <a:ext cx="8229600" cy="5257800"/>
          </a:xfrm>
        </p:spPr>
        <p:txBody>
          <a:bodyPr>
            <a:normAutofit fontScale="92500" lnSpcReduction="10000"/>
          </a:bodyPr>
          <a:lstStyle/>
          <a:p>
            <a:r>
              <a:rPr lang="en-US" dirty="0" smtClean="0"/>
              <a:t>The Industrial Revolution was a fundamental change in the way goods were produced, from human labor to machines.</a:t>
            </a:r>
          </a:p>
          <a:p>
            <a:r>
              <a:rPr lang="en-US" dirty="0" smtClean="0"/>
              <a:t>The industrial revolution was a period of major industrialization that took place during the late 1700s and early 1800s. </a:t>
            </a:r>
          </a:p>
          <a:p>
            <a:r>
              <a:rPr lang="en-US" dirty="0" smtClean="0"/>
              <a:t>The </a:t>
            </a:r>
            <a:r>
              <a:rPr lang="en-US" b="1" dirty="0" smtClean="0"/>
              <a:t>Industrial revolution</a:t>
            </a:r>
            <a:r>
              <a:rPr lang="en-US" dirty="0" smtClean="0"/>
              <a:t> was the major shift of technological, socioeconomic and cultural conditions in the late 18th and early 19th century that began in Britain and spread throughout the world. </a:t>
            </a:r>
          </a:p>
          <a:p>
            <a:r>
              <a:rPr lang="en-US" dirty="0" smtClean="0"/>
              <a:t>The Phrase Industrial Revolution covers many different developments which all took place at the same time.</a:t>
            </a:r>
          </a:p>
          <a:p>
            <a:r>
              <a:rPr lang="en-US" dirty="0" smtClean="0"/>
              <a:t>By 1850 industrialization was taking root in parts of Western Europe and the USA, and by  the end of 19</a:t>
            </a:r>
            <a:r>
              <a:rPr lang="en-US" baseline="30000" dirty="0" smtClean="0"/>
              <a:t>th</a:t>
            </a:r>
            <a:r>
              <a:rPr lang="en-US" dirty="0" smtClean="0"/>
              <a:t> century it had  spread to Russia and Japan.</a:t>
            </a:r>
          </a:p>
          <a:p>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Industrial revolution is the vast social and economic changes that resulted from the development of steam-powered machinery and mass-production methods, beginning in the late eighteenth century in Great Britain and extending through the nineteenth century elsewhere in the world. [</a:t>
            </a:r>
            <a:r>
              <a:rPr lang="en-US" b="1" i="1" dirty="0" smtClean="0"/>
              <a:t>Academic Press Dictionary of Science and Technology</a:t>
            </a:r>
            <a:r>
              <a:rPr lang="en-US" b="1" dirty="0" smtClean="0"/>
              <a:t>]</a:t>
            </a:r>
          </a:p>
          <a:p>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Main Feature of IR</a:t>
            </a:r>
            <a:endParaRPr lang="en-US" dirty="0"/>
          </a:p>
        </p:txBody>
      </p:sp>
      <p:sp>
        <p:nvSpPr>
          <p:cNvPr id="3" name="Content Placeholder 2"/>
          <p:cNvSpPr>
            <a:spLocks noGrp="1"/>
          </p:cNvSpPr>
          <p:nvPr>
            <p:ph idx="1"/>
          </p:nvPr>
        </p:nvSpPr>
        <p:spPr>
          <a:xfrm>
            <a:off x="228600" y="1066800"/>
            <a:ext cx="8686800" cy="5638800"/>
          </a:xfrm>
        </p:spPr>
        <p:txBody>
          <a:bodyPr>
            <a:normAutofit fontScale="92500" lnSpcReduction="10000"/>
          </a:bodyPr>
          <a:lstStyle/>
          <a:p>
            <a:pPr marL="420624" indent="-384048">
              <a:buFont typeface="Wingdings 2"/>
              <a:buChar char=""/>
              <a:defRPr/>
            </a:pPr>
            <a:r>
              <a:rPr lang="en-US" dirty="0" smtClean="0"/>
              <a:t>Mass production of goods.</a:t>
            </a:r>
          </a:p>
          <a:p>
            <a:pPr marL="722376" lvl="1" indent="-274320">
              <a:defRPr/>
            </a:pPr>
            <a:r>
              <a:rPr lang="en-US" dirty="0" smtClean="0"/>
              <a:t>Increased numbers of goods.</a:t>
            </a:r>
          </a:p>
          <a:p>
            <a:pPr marL="722376" lvl="1" indent="-274320">
              <a:defRPr/>
            </a:pPr>
            <a:r>
              <a:rPr lang="en-US" dirty="0" smtClean="0"/>
              <a:t>Increased diversity of goods produced.</a:t>
            </a:r>
          </a:p>
          <a:p>
            <a:pPr marL="420624" indent="-384048">
              <a:buFont typeface="Wingdings 2"/>
              <a:buChar char=""/>
              <a:defRPr/>
            </a:pPr>
            <a:r>
              <a:rPr lang="en-US" dirty="0" smtClean="0"/>
              <a:t>Development of factory system of production.</a:t>
            </a:r>
          </a:p>
          <a:p>
            <a:pPr marL="420624" indent="-384048">
              <a:buFont typeface="Wingdings 2"/>
              <a:buChar char=""/>
              <a:defRPr/>
            </a:pPr>
            <a:r>
              <a:rPr lang="en-US" dirty="0" smtClean="0"/>
              <a:t>Rural-to-urban migration.</a:t>
            </a:r>
          </a:p>
          <a:p>
            <a:pPr marL="722376" lvl="1" indent="-274320">
              <a:defRPr/>
            </a:pPr>
            <a:r>
              <a:rPr lang="en-US" dirty="0" smtClean="0"/>
              <a:t>People left farms to work in cities.</a:t>
            </a:r>
          </a:p>
          <a:p>
            <a:pPr marL="420624" indent="-384048">
              <a:buFont typeface="Wingdings 2"/>
              <a:buChar char=""/>
              <a:defRPr/>
            </a:pPr>
            <a:r>
              <a:rPr lang="en-US" dirty="0" smtClean="0"/>
              <a:t>Development of capitalism.</a:t>
            </a:r>
          </a:p>
          <a:p>
            <a:pPr marL="722376" lvl="1" indent="-274320">
              <a:defRPr/>
            </a:pPr>
            <a:r>
              <a:rPr lang="en-US" dirty="0" smtClean="0"/>
              <a:t>Financial capital for continued industrial growth.</a:t>
            </a:r>
          </a:p>
          <a:p>
            <a:pPr marL="420624" indent="-384048">
              <a:buFont typeface="Wingdings 2"/>
              <a:buChar char=""/>
              <a:defRPr/>
            </a:pPr>
            <a:r>
              <a:rPr lang="en-US" dirty="0" smtClean="0"/>
              <a:t>Development and growth of new socio-economic classes.</a:t>
            </a:r>
          </a:p>
          <a:p>
            <a:pPr marL="722376" lvl="1" indent="-274320">
              <a:defRPr/>
            </a:pPr>
            <a:r>
              <a:rPr lang="en-US" dirty="0" smtClean="0"/>
              <a:t>Working class, and wealthy industrial class.</a:t>
            </a:r>
          </a:p>
          <a:p>
            <a:pPr marL="420624" indent="-384048">
              <a:buFont typeface="Wingdings 2"/>
              <a:buChar char=""/>
              <a:defRPr/>
            </a:pPr>
            <a:r>
              <a:rPr lang="en-US" dirty="0" smtClean="0"/>
              <a:t>Commitment to research and development.</a:t>
            </a:r>
          </a:p>
          <a:p>
            <a:pPr marL="722376" lvl="1" indent="-274320">
              <a:defRPr/>
            </a:pPr>
            <a:r>
              <a:rPr lang="en-US" dirty="0" smtClean="0"/>
              <a:t>Investments in new technologies.</a:t>
            </a:r>
          </a:p>
          <a:p>
            <a:pPr marL="722376" lvl="1" indent="-274320">
              <a:defRPr/>
            </a:pPr>
            <a:r>
              <a:rPr lang="en-US" dirty="0" smtClean="0"/>
              <a:t>Industrial and governmental interest in promoting invention, the sciences, and overall industrial growth.</a:t>
            </a:r>
          </a:p>
          <a:p>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219200"/>
          </a:xfrm>
        </p:spPr>
        <p:txBody>
          <a:bodyPr>
            <a:normAutofit fontScale="90000"/>
          </a:bodyPr>
          <a:lstStyle/>
          <a:p>
            <a:r>
              <a:rPr lang="en-US" dirty="0" smtClean="0"/>
              <a:t>Background of the Industrial Revolution</a:t>
            </a:r>
            <a:endParaRPr lang="en-US" dirty="0"/>
          </a:p>
        </p:txBody>
      </p:sp>
      <p:sp>
        <p:nvSpPr>
          <p:cNvPr id="3" name="Content Placeholder 2"/>
          <p:cNvSpPr>
            <a:spLocks noGrp="1"/>
          </p:cNvSpPr>
          <p:nvPr>
            <p:ph idx="1"/>
          </p:nvPr>
        </p:nvSpPr>
        <p:spPr/>
        <p:txBody>
          <a:bodyPr/>
          <a:lstStyle/>
          <a:p>
            <a:r>
              <a:rPr lang="en-US" dirty="0" smtClean="0"/>
              <a:t>Commercial Revolution</a:t>
            </a:r>
          </a:p>
          <a:p>
            <a:pPr lvl="1"/>
            <a:r>
              <a:rPr lang="en-US" dirty="0" smtClean="0"/>
              <a:t>Increased geographic knowledge</a:t>
            </a:r>
          </a:p>
          <a:p>
            <a:pPr lvl="1"/>
            <a:r>
              <a:rPr lang="en-US" dirty="0" smtClean="0"/>
              <a:t>Colonies in the Americas and Asia</a:t>
            </a:r>
          </a:p>
          <a:p>
            <a:pPr lvl="1"/>
            <a:r>
              <a:rPr lang="en-US" dirty="0" smtClean="0"/>
              <a:t>Europeans expanded their power worldwide</a:t>
            </a:r>
          </a:p>
          <a:p>
            <a:pPr lvl="1"/>
            <a:r>
              <a:rPr lang="en-US" dirty="0" smtClean="0"/>
              <a:t>Increased trade and commerce</a:t>
            </a:r>
          </a:p>
          <a:p>
            <a:pPr lvl="1"/>
            <a:r>
              <a:rPr lang="en-US" dirty="0" smtClean="0"/>
              <a:t>Guild system could not meet the demands of increasing numbers goods</a:t>
            </a:r>
          </a:p>
          <a:p>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marL="420624" indent="-384048">
              <a:buFont typeface="Wingdings 2"/>
              <a:buChar char=""/>
              <a:defRPr/>
            </a:pPr>
            <a:r>
              <a:rPr lang="en-US" dirty="0" smtClean="0"/>
              <a:t>Scientific Revolution</a:t>
            </a:r>
          </a:p>
          <a:p>
            <a:pPr marL="722376" lvl="1" indent="-274320">
              <a:defRPr/>
            </a:pPr>
            <a:r>
              <a:rPr lang="en-US" dirty="0" smtClean="0"/>
              <a:t>17</a:t>
            </a:r>
            <a:r>
              <a:rPr lang="en-US" baseline="30000" dirty="0" smtClean="0"/>
              <a:t>th</a:t>
            </a:r>
            <a:r>
              <a:rPr lang="en-US" dirty="0" smtClean="0"/>
              <a:t> and 18</a:t>
            </a:r>
            <a:r>
              <a:rPr lang="en-US" baseline="30000" dirty="0" smtClean="0"/>
              <a:t>th</a:t>
            </a:r>
            <a:r>
              <a:rPr lang="en-US" dirty="0" smtClean="0"/>
              <a:t> centuries</a:t>
            </a:r>
          </a:p>
          <a:p>
            <a:pPr marL="722376" lvl="1" indent="-274320">
              <a:defRPr/>
            </a:pPr>
            <a:r>
              <a:rPr lang="en-US" dirty="0" smtClean="0"/>
              <a:t>invention of </a:t>
            </a:r>
            <a:r>
              <a:rPr lang="en-US" dirty="0" err="1" smtClean="0"/>
              <a:t>Galilio</a:t>
            </a:r>
            <a:r>
              <a:rPr lang="en-US" dirty="0" smtClean="0"/>
              <a:t>, Boyle, Lavoisier, Newton, etc.</a:t>
            </a:r>
          </a:p>
          <a:p>
            <a:pPr marL="420624" indent="-384048">
              <a:buFont typeface="Wingdings 2"/>
              <a:buChar char=""/>
              <a:defRPr/>
            </a:pPr>
            <a:r>
              <a:rPr lang="en-US" dirty="0" smtClean="0"/>
              <a:t>Intellectual Revolution</a:t>
            </a:r>
          </a:p>
          <a:p>
            <a:pPr marL="722376" lvl="1" indent="-274320">
              <a:defRPr/>
            </a:pPr>
            <a:r>
              <a:rPr lang="en-US" dirty="0" smtClean="0"/>
              <a:t>17</a:t>
            </a:r>
            <a:r>
              <a:rPr lang="en-US" baseline="30000" dirty="0" smtClean="0"/>
              <a:t>th</a:t>
            </a:r>
            <a:r>
              <a:rPr lang="en-US" dirty="0" smtClean="0"/>
              <a:t> and 18</a:t>
            </a:r>
            <a:r>
              <a:rPr lang="en-US" baseline="30000" dirty="0" smtClean="0"/>
              <a:t>th</a:t>
            </a:r>
            <a:r>
              <a:rPr lang="en-US" dirty="0" smtClean="0"/>
              <a:t> centuries</a:t>
            </a:r>
          </a:p>
          <a:p>
            <a:pPr marL="722376" lvl="1" indent="-274320">
              <a:defRPr/>
            </a:pPr>
            <a:r>
              <a:rPr lang="en-US" dirty="0" smtClean="0"/>
              <a:t>Writings of Locke, Voltaire, Rousseau etc.</a:t>
            </a:r>
          </a:p>
          <a:p>
            <a:pPr marL="420624" indent="-384048">
              <a:buFont typeface="Wingdings 2"/>
              <a:buChar char=""/>
              <a:defRPr/>
            </a:pPr>
            <a:r>
              <a:rPr lang="en-US" dirty="0" smtClean="0"/>
              <a:t>Atmosphere of discovery and free intellectual inquiry</a:t>
            </a:r>
          </a:p>
          <a:p>
            <a:pPr marL="722376" lvl="1" indent="-274320">
              <a:defRPr/>
            </a:pPr>
            <a:r>
              <a:rPr lang="en-US" dirty="0" smtClean="0"/>
              <a:t>Greater knowledge of the world</a:t>
            </a:r>
          </a:p>
          <a:p>
            <a:pPr marL="722376" lvl="1" indent="-274320">
              <a:defRPr/>
            </a:pPr>
            <a:r>
              <a:rPr lang="en-US" dirty="0" smtClean="0"/>
              <a:t>Weakened superstition and tradition</a:t>
            </a:r>
          </a:p>
          <a:p>
            <a:pPr marL="722376" lvl="1" indent="-274320">
              <a:defRPr/>
            </a:pPr>
            <a:r>
              <a:rPr lang="en-US" dirty="0" smtClean="0"/>
              <a:t>Encouraged learning and the search for better and newer ways of doing things</a:t>
            </a:r>
          </a:p>
          <a:p>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838200"/>
          </a:xfrm>
        </p:spPr>
        <p:txBody>
          <a:bodyPr/>
          <a:lstStyle/>
          <a:p>
            <a:r>
              <a:rPr lang="en-US" b="1" dirty="0" smtClean="0"/>
              <a:t>Bill of Rights</a:t>
            </a:r>
            <a:endParaRPr lang="en-US" dirty="0"/>
          </a:p>
        </p:txBody>
      </p:sp>
      <p:sp>
        <p:nvSpPr>
          <p:cNvPr id="3" name="Content Placeholder 2"/>
          <p:cNvSpPr>
            <a:spLocks noGrp="1"/>
          </p:cNvSpPr>
          <p:nvPr>
            <p:ph idx="1"/>
          </p:nvPr>
        </p:nvSpPr>
        <p:spPr>
          <a:xfrm>
            <a:off x="457200" y="1600200"/>
            <a:ext cx="8229600" cy="4953000"/>
          </a:xfrm>
        </p:spPr>
        <p:txBody>
          <a:bodyPr>
            <a:normAutofit fontScale="92500"/>
          </a:bodyPr>
          <a:lstStyle/>
          <a:p>
            <a:r>
              <a:rPr lang="en-US" dirty="0" smtClean="0"/>
              <a:t>When the Constitution was approved in 1789, some people felt that it did not protect some basic rights and that the Constitution should be changed to protect those rights. </a:t>
            </a:r>
          </a:p>
          <a:p>
            <a:r>
              <a:rPr lang="en-US" dirty="0" smtClean="0"/>
              <a:t>On December 15, 1791, changes were made to the Constitution. These first 10 changes, or amendments, guarantee specific freedoms and rights; together they are called the Bill of Rights.</a:t>
            </a:r>
          </a:p>
          <a:p>
            <a:r>
              <a:rPr lang="en-US" dirty="0" smtClean="0"/>
              <a:t>The Bill of Rights was influenced by the Virginia Declaration of Rights written in 1776 by George Mason.</a:t>
            </a:r>
          </a:p>
          <a:p>
            <a:r>
              <a:rPr lang="en-US" dirty="0" smtClean="0"/>
              <a:t>The Bill of Rights includes some of the most basic freedoms and rights that we think of today in the United States. These are a few of the key ideas in each amendment:</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Bill of Rights</a:t>
            </a:r>
            <a:br>
              <a:rPr lang="en-US" b="1" dirty="0" smtClean="0"/>
            </a:br>
            <a:endParaRPr lang="en-US" dirty="0"/>
          </a:p>
        </p:txBody>
      </p:sp>
      <p:graphicFrame>
        <p:nvGraphicFramePr>
          <p:cNvPr id="4" name="Content Placeholder 3"/>
          <p:cNvGraphicFramePr>
            <a:graphicFrameLocks noGrp="1"/>
          </p:cNvGraphicFramePr>
          <p:nvPr>
            <p:ph idx="1"/>
          </p:nvPr>
        </p:nvGraphicFramePr>
        <p:xfrm>
          <a:off x="152400" y="1447801"/>
          <a:ext cx="8610600" cy="4789837"/>
        </p:xfrm>
        <a:graphic>
          <a:graphicData uri="http://schemas.openxmlformats.org/drawingml/2006/table">
            <a:tbl>
              <a:tblPr firstRow="1" bandRow="1">
                <a:tableStyleId>{5C22544A-7EE6-4342-B048-85BDC9FD1C3A}</a:tableStyleId>
              </a:tblPr>
              <a:tblGrid>
                <a:gridCol w="2286000"/>
                <a:gridCol w="6324600"/>
              </a:tblGrid>
              <a:tr h="653080">
                <a:tc>
                  <a:txBody>
                    <a:bodyPr/>
                    <a:lstStyle/>
                    <a:p>
                      <a:pPr algn="ctr"/>
                      <a:r>
                        <a:rPr lang="en-US" b="1" dirty="0"/>
                        <a:t>Amendment</a:t>
                      </a:r>
                    </a:p>
                  </a:txBody>
                  <a:tcPr marL="28575" marR="28575" marT="28575" marB="28575" anchor="ctr"/>
                </a:tc>
                <a:tc>
                  <a:txBody>
                    <a:bodyPr/>
                    <a:lstStyle/>
                    <a:p>
                      <a:r>
                        <a:rPr kumimoji="0" lang="en-US" b="1" i="0" kern="1200" dirty="0" smtClean="0">
                          <a:solidFill>
                            <a:schemeClr val="lt1"/>
                          </a:solidFill>
                          <a:latin typeface="+mn-lt"/>
                          <a:ea typeface="+mn-ea"/>
                          <a:cs typeface="+mn-cs"/>
                        </a:rPr>
                        <a:t>Rights and Protections</a:t>
                      </a:r>
                      <a:endParaRPr lang="en-US" dirty="0"/>
                    </a:p>
                  </a:txBody>
                  <a:tcPr/>
                </a:tc>
              </a:tr>
              <a:tr h="1916197">
                <a:tc>
                  <a:txBody>
                    <a:bodyPr/>
                    <a:lstStyle/>
                    <a:p>
                      <a:r>
                        <a:rPr lang="en-US" dirty="0" smtClean="0"/>
                        <a:t>First </a:t>
                      </a:r>
                      <a:endParaRPr lang="en-US" dirty="0"/>
                    </a:p>
                  </a:txBody>
                  <a:tcPr/>
                </a:tc>
                <a:tc>
                  <a:txBody>
                    <a:bodyPr/>
                    <a:lstStyle/>
                    <a:p>
                      <a:r>
                        <a:rPr kumimoji="0" lang="en-US" b="0" i="0" kern="1200" dirty="0" smtClean="0">
                          <a:solidFill>
                            <a:schemeClr val="dk1"/>
                          </a:solidFill>
                          <a:latin typeface="+mn-lt"/>
                          <a:ea typeface="+mn-ea"/>
                          <a:cs typeface="+mn-cs"/>
                        </a:rPr>
                        <a:t>Freedom of speech</a:t>
                      </a:r>
                    </a:p>
                    <a:p>
                      <a:r>
                        <a:rPr kumimoji="0" lang="en-US" b="0" i="0" kern="1200" dirty="0" smtClean="0">
                          <a:solidFill>
                            <a:schemeClr val="dk1"/>
                          </a:solidFill>
                          <a:latin typeface="+mn-lt"/>
                          <a:ea typeface="+mn-ea"/>
                          <a:cs typeface="+mn-cs"/>
                        </a:rPr>
                        <a:t>Freedom of the press</a:t>
                      </a:r>
                    </a:p>
                    <a:p>
                      <a:r>
                        <a:rPr kumimoji="0" lang="en-US" b="0" i="0" kern="1200" dirty="0" smtClean="0">
                          <a:solidFill>
                            <a:schemeClr val="dk1"/>
                          </a:solidFill>
                          <a:latin typeface="+mn-lt"/>
                          <a:ea typeface="+mn-ea"/>
                          <a:cs typeface="+mn-cs"/>
                        </a:rPr>
                        <a:t>Freedom of religion</a:t>
                      </a:r>
                    </a:p>
                    <a:p>
                      <a:r>
                        <a:rPr kumimoji="0" lang="en-US" b="0" i="0" kern="1200" dirty="0" smtClean="0">
                          <a:solidFill>
                            <a:schemeClr val="dk1"/>
                          </a:solidFill>
                          <a:latin typeface="+mn-lt"/>
                          <a:ea typeface="+mn-ea"/>
                          <a:cs typeface="+mn-cs"/>
                        </a:rPr>
                        <a:t>Freedom of assembly</a:t>
                      </a:r>
                    </a:p>
                    <a:p>
                      <a:r>
                        <a:rPr kumimoji="0" lang="en-US" b="0" i="0" kern="1200" dirty="0" smtClean="0">
                          <a:solidFill>
                            <a:schemeClr val="dk1"/>
                          </a:solidFill>
                          <a:latin typeface="+mn-lt"/>
                          <a:ea typeface="+mn-ea"/>
                          <a:cs typeface="+mn-cs"/>
                        </a:rPr>
                        <a:t>Right to petition the government</a:t>
                      </a:r>
                    </a:p>
                    <a:p>
                      <a:endParaRPr lang="en-US" dirty="0"/>
                    </a:p>
                  </a:txBody>
                  <a:tcPr/>
                </a:tc>
              </a:tr>
              <a:tr h="653080">
                <a:tc>
                  <a:txBody>
                    <a:bodyPr/>
                    <a:lstStyle/>
                    <a:p>
                      <a:r>
                        <a:rPr lang="en-US" dirty="0" smtClean="0"/>
                        <a:t>Second</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b="0" i="0" kern="1200" dirty="0" smtClean="0">
                          <a:solidFill>
                            <a:schemeClr val="dk1"/>
                          </a:solidFill>
                          <a:latin typeface="+mn-lt"/>
                          <a:ea typeface="+mn-ea"/>
                          <a:cs typeface="+mn-cs"/>
                        </a:rPr>
                        <a:t>Right to bear arms</a:t>
                      </a:r>
                    </a:p>
                    <a:p>
                      <a:endParaRPr lang="en-US" dirty="0"/>
                    </a:p>
                  </a:txBody>
                  <a:tcPr/>
                </a:tc>
              </a:tr>
              <a:tr h="653080">
                <a:tc>
                  <a:txBody>
                    <a:bodyPr/>
                    <a:lstStyle/>
                    <a:p>
                      <a:r>
                        <a:rPr lang="en-US" dirty="0" smtClean="0"/>
                        <a:t>Third</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b="0" i="0" kern="1200" dirty="0" smtClean="0">
                          <a:solidFill>
                            <a:schemeClr val="dk1"/>
                          </a:solidFill>
                          <a:latin typeface="+mn-lt"/>
                          <a:ea typeface="+mn-ea"/>
                          <a:cs typeface="+mn-cs"/>
                        </a:rPr>
                        <a:t>Protection against housing soldiers in civilian homes</a:t>
                      </a:r>
                    </a:p>
                  </a:txBody>
                  <a:tcPr/>
                </a:tc>
              </a:tr>
              <a:tr h="653080">
                <a:tc>
                  <a:txBody>
                    <a:bodyPr/>
                    <a:lstStyle/>
                    <a:p>
                      <a:r>
                        <a:rPr lang="en-US" dirty="0" smtClean="0"/>
                        <a:t>Forth </a:t>
                      </a:r>
                      <a:endParaRPr lang="en-US" dirty="0"/>
                    </a:p>
                  </a:txBody>
                  <a:tcPr/>
                </a:tc>
                <a:tc>
                  <a:txBody>
                    <a:bodyPr/>
                    <a:lstStyle/>
                    <a:p>
                      <a:r>
                        <a:rPr kumimoji="0" lang="en-US" b="0" i="0" kern="1200" dirty="0" smtClean="0">
                          <a:solidFill>
                            <a:schemeClr val="dk1"/>
                          </a:solidFill>
                          <a:latin typeface="+mn-lt"/>
                          <a:ea typeface="+mn-ea"/>
                          <a:cs typeface="+mn-cs"/>
                        </a:rPr>
                        <a:t>Protection against unreasonable search and seizure</a:t>
                      </a:r>
                    </a:p>
                    <a:p>
                      <a:r>
                        <a:rPr kumimoji="0" lang="en-US" b="0" i="0" kern="1200" dirty="0" smtClean="0">
                          <a:solidFill>
                            <a:schemeClr val="dk1"/>
                          </a:solidFill>
                          <a:latin typeface="+mn-lt"/>
                          <a:ea typeface="+mn-ea"/>
                          <a:cs typeface="+mn-cs"/>
                        </a:rPr>
                        <a:t>Protection against the issuing of warrants without probable cause</a:t>
                      </a:r>
                    </a:p>
                  </a:txBody>
                  <a:tcPr/>
                </a:tc>
              </a:tr>
            </a:tbl>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nvPr>
        </p:nvGraphicFramePr>
        <p:xfrm>
          <a:off x="457200" y="1935163"/>
          <a:ext cx="8229600" cy="3657917"/>
        </p:xfrm>
        <a:graphic>
          <a:graphicData uri="http://schemas.openxmlformats.org/drawingml/2006/table">
            <a:tbl>
              <a:tblPr firstRow="1" bandRow="1">
                <a:tableStyleId>{5C22544A-7EE6-4342-B048-85BDC9FD1C3A}</a:tableStyleId>
              </a:tblPr>
              <a:tblGrid>
                <a:gridCol w="2362200"/>
                <a:gridCol w="5867400"/>
              </a:tblGrid>
              <a:tr h="1040209">
                <a:tc>
                  <a:txBody>
                    <a:bodyPr/>
                    <a:lstStyle/>
                    <a:p>
                      <a:r>
                        <a:rPr lang="en-US" dirty="0" smtClean="0"/>
                        <a:t>Fifth </a:t>
                      </a:r>
                      <a:endParaRPr lang="en-US" dirty="0"/>
                    </a:p>
                  </a:txBody>
                  <a:tcPr/>
                </a:tc>
                <a:tc>
                  <a:txBody>
                    <a:bodyPr/>
                    <a:lstStyle/>
                    <a:p>
                      <a:r>
                        <a:rPr kumimoji="0" lang="en-US" b="0" i="0" kern="1200" dirty="0" smtClean="0">
                          <a:solidFill>
                            <a:schemeClr val="dk1"/>
                          </a:solidFill>
                          <a:latin typeface="+mn-lt"/>
                          <a:ea typeface="+mn-ea"/>
                          <a:cs typeface="+mn-cs"/>
                        </a:rPr>
                        <a:t>Protection against</a:t>
                      </a:r>
                    </a:p>
                    <a:p>
                      <a:pPr lvl="1"/>
                      <a:r>
                        <a:rPr kumimoji="0" lang="en-US" b="0" i="0" kern="1200" dirty="0" smtClean="0">
                          <a:solidFill>
                            <a:schemeClr val="dk1"/>
                          </a:solidFill>
                          <a:latin typeface="+mn-lt"/>
                          <a:ea typeface="+mn-ea"/>
                          <a:cs typeface="+mn-cs"/>
                        </a:rPr>
                        <a:t>trial without indictment</a:t>
                      </a:r>
                    </a:p>
                    <a:p>
                      <a:pPr lvl="1"/>
                      <a:r>
                        <a:rPr kumimoji="0" lang="en-US" b="0" i="0" kern="1200" dirty="0" smtClean="0">
                          <a:solidFill>
                            <a:schemeClr val="dk1"/>
                          </a:solidFill>
                          <a:latin typeface="+mn-lt"/>
                          <a:ea typeface="+mn-ea"/>
                          <a:cs typeface="+mn-cs"/>
                        </a:rPr>
                        <a:t>double jeopardy</a:t>
                      </a:r>
                    </a:p>
                    <a:p>
                      <a:pPr lvl="1"/>
                      <a:r>
                        <a:rPr kumimoji="0" lang="en-US" b="0" i="0" kern="1200" dirty="0" smtClean="0">
                          <a:solidFill>
                            <a:schemeClr val="dk1"/>
                          </a:solidFill>
                          <a:latin typeface="+mn-lt"/>
                          <a:ea typeface="+mn-ea"/>
                          <a:cs typeface="+mn-cs"/>
                        </a:rPr>
                        <a:t>self-incrimination</a:t>
                      </a:r>
                    </a:p>
                    <a:p>
                      <a:pPr lvl="1"/>
                      <a:r>
                        <a:rPr kumimoji="0" lang="en-US" b="0" i="0" kern="1200" dirty="0" smtClean="0">
                          <a:solidFill>
                            <a:schemeClr val="dk1"/>
                          </a:solidFill>
                          <a:latin typeface="+mn-lt"/>
                          <a:ea typeface="+mn-ea"/>
                          <a:cs typeface="+mn-cs"/>
                        </a:rPr>
                        <a:t>property seizure</a:t>
                      </a:r>
                    </a:p>
                  </a:txBody>
                  <a:tcPr/>
                </a:tc>
              </a:tr>
              <a:tr h="1040209">
                <a:tc>
                  <a:txBody>
                    <a:bodyPr/>
                    <a:lstStyle/>
                    <a:p>
                      <a:r>
                        <a:rPr lang="en-US" dirty="0" smtClean="0"/>
                        <a:t>Sixth </a:t>
                      </a:r>
                      <a:endParaRPr lang="en-US" dirty="0"/>
                    </a:p>
                  </a:txBody>
                  <a:tcPr/>
                </a:tc>
                <a:tc>
                  <a:txBody>
                    <a:bodyPr/>
                    <a:lstStyle/>
                    <a:p>
                      <a:r>
                        <a:rPr kumimoji="0" lang="en-US" b="0" i="0" kern="1200" dirty="0" smtClean="0">
                          <a:solidFill>
                            <a:schemeClr val="dk1"/>
                          </a:solidFill>
                          <a:latin typeface="+mn-lt"/>
                          <a:ea typeface="+mn-ea"/>
                          <a:cs typeface="+mn-cs"/>
                        </a:rPr>
                        <a:t>Right to a speedy trial</a:t>
                      </a:r>
                    </a:p>
                    <a:p>
                      <a:r>
                        <a:rPr kumimoji="0" lang="en-US" b="0" i="0" kern="1200" dirty="0" smtClean="0">
                          <a:solidFill>
                            <a:schemeClr val="dk1"/>
                          </a:solidFill>
                          <a:latin typeface="+mn-lt"/>
                          <a:ea typeface="+mn-ea"/>
                          <a:cs typeface="+mn-cs"/>
                        </a:rPr>
                        <a:t>Right to be informed of charges</a:t>
                      </a:r>
                    </a:p>
                    <a:p>
                      <a:r>
                        <a:rPr kumimoji="0" lang="en-US" b="0" i="0" kern="1200" dirty="0" smtClean="0">
                          <a:solidFill>
                            <a:schemeClr val="dk1"/>
                          </a:solidFill>
                          <a:latin typeface="+mn-lt"/>
                          <a:ea typeface="+mn-ea"/>
                          <a:cs typeface="+mn-cs"/>
                        </a:rPr>
                        <a:t>Right to be confronted by witnesses</a:t>
                      </a:r>
                    </a:p>
                    <a:p>
                      <a:r>
                        <a:rPr kumimoji="0" lang="en-US" b="0" i="0" kern="1200" dirty="0" smtClean="0">
                          <a:solidFill>
                            <a:schemeClr val="dk1"/>
                          </a:solidFill>
                          <a:latin typeface="+mn-lt"/>
                          <a:ea typeface="+mn-ea"/>
                          <a:cs typeface="+mn-cs"/>
                        </a:rPr>
                        <a:t>Right to call witnesses</a:t>
                      </a:r>
                    </a:p>
                    <a:p>
                      <a:r>
                        <a:rPr kumimoji="0" lang="en-US" b="0" i="0" kern="1200" dirty="0" smtClean="0">
                          <a:solidFill>
                            <a:schemeClr val="dk1"/>
                          </a:solidFill>
                          <a:latin typeface="+mn-lt"/>
                          <a:ea typeface="+mn-ea"/>
                          <a:cs typeface="+mn-cs"/>
                        </a:rPr>
                        <a:t>Right to a legal counsel</a:t>
                      </a:r>
                    </a:p>
                    <a:p>
                      <a:endParaRPr lang="en-US" dirty="0"/>
                    </a:p>
                  </a:txBody>
                  <a:tcPr/>
                </a:tc>
              </a:tr>
              <a:tr h="457517">
                <a:tc>
                  <a:txBody>
                    <a:bodyPr/>
                    <a:lstStyle/>
                    <a:p>
                      <a:r>
                        <a:rPr lang="en-US" dirty="0" smtClean="0"/>
                        <a:t>Seventh</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b="0" i="0" kern="1200" dirty="0" smtClean="0">
                          <a:solidFill>
                            <a:schemeClr val="dk1"/>
                          </a:solidFill>
                          <a:latin typeface="+mn-lt"/>
                          <a:ea typeface="+mn-ea"/>
                          <a:cs typeface="+mn-cs"/>
                        </a:rPr>
                        <a:t>Right to trial by jury</a:t>
                      </a:r>
                    </a:p>
                  </a:txBody>
                  <a:tcPr/>
                </a:tc>
              </a:tr>
            </a:tbl>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nvPr>
        </p:nvGraphicFramePr>
        <p:xfrm>
          <a:off x="457200" y="1935163"/>
          <a:ext cx="8229600" cy="3543458"/>
        </p:xfrm>
        <a:graphic>
          <a:graphicData uri="http://schemas.openxmlformats.org/drawingml/2006/table">
            <a:tbl>
              <a:tblPr firstRow="1" bandRow="1">
                <a:tableStyleId>{5C22544A-7EE6-4342-B048-85BDC9FD1C3A}</a:tableStyleId>
              </a:tblPr>
              <a:tblGrid>
                <a:gridCol w="2057400"/>
                <a:gridCol w="6172200"/>
              </a:tblGrid>
              <a:tr h="1040209">
                <a:tc>
                  <a:txBody>
                    <a:bodyPr/>
                    <a:lstStyle/>
                    <a:p>
                      <a:r>
                        <a:rPr lang="en-US" dirty="0" smtClean="0"/>
                        <a:t>Eighth</a:t>
                      </a:r>
                      <a:r>
                        <a:rPr lang="en-US" baseline="0" dirty="0" smtClean="0"/>
                        <a:t> </a:t>
                      </a:r>
                      <a:endParaRPr lang="en-US" dirty="0"/>
                    </a:p>
                  </a:txBody>
                  <a:tcPr/>
                </a:tc>
                <a:tc>
                  <a:txBody>
                    <a:bodyPr/>
                    <a:lstStyle/>
                    <a:p>
                      <a:r>
                        <a:rPr kumimoji="0" lang="en-US" b="0" i="0" kern="1200" dirty="0" smtClean="0">
                          <a:solidFill>
                            <a:schemeClr val="lt1"/>
                          </a:solidFill>
                          <a:latin typeface="+mn-lt"/>
                          <a:ea typeface="+mn-ea"/>
                          <a:cs typeface="+mn-cs"/>
                        </a:rPr>
                        <a:t>Protection against</a:t>
                      </a:r>
                    </a:p>
                    <a:p>
                      <a:pPr lvl="1"/>
                      <a:r>
                        <a:rPr kumimoji="0" lang="en-US" b="0" i="0" kern="1200" dirty="0" smtClean="0">
                          <a:solidFill>
                            <a:schemeClr val="lt1"/>
                          </a:solidFill>
                          <a:latin typeface="+mn-lt"/>
                          <a:ea typeface="+mn-ea"/>
                          <a:cs typeface="+mn-cs"/>
                        </a:rPr>
                        <a:t>excessive bail</a:t>
                      </a:r>
                    </a:p>
                    <a:p>
                      <a:pPr lvl="1"/>
                      <a:r>
                        <a:rPr kumimoji="0" lang="en-US" b="0" i="0" kern="1200" dirty="0" smtClean="0">
                          <a:solidFill>
                            <a:schemeClr val="lt1"/>
                          </a:solidFill>
                          <a:latin typeface="+mn-lt"/>
                          <a:ea typeface="+mn-ea"/>
                          <a:cs typeface="+mn-cs"/>
                        </a:rPr>
                        <a:t>excessive fines</a:t>
                      </a:r>
                    </a:p>
                    <a:p>
                      <a:pPr lvl="1"/>
                      <a:r>
                        <a:rPr kumimoji="0" lang="en-US" b="0" i="0" kern="1200" dirty="0" smtClean="0">
                          <a:solidFill>
                            <a:schemeClr val="lt1"/>
                          </a:solidFill>
                          <a:latin typeface="+mn-lt"/>
                          <a:ea typeface="+mn-ea"/>
                          <a:cs typeface="+mn-cs"/>
                        </a:rPr>
                        <a:t>cruel and unusual punishment</a:t>
                      </a:r>
                    </a:p>
                    <a:p>
                      <a:endParaRPr lang="en-US" dirty="0"/>
                    </a:p>
                  </a:txBody>
                  <a:tcPr/>
                </a:tc>
              </a:tr>
              <a:tr h="1040209">
                <a:tc>
                  <a:txBody>
                    <a:bodyPr/>
                    <a:lstStyle/>
                    <a:p>
                      <a:r>
                        <a:rPr lang="en-US" dirty="0" err="1" smtClean="0"/>
                        <a:t>Nineth</a:t>
                      </a:r>
                      <a:r>
                        <a:rPr lang="en-US" dirty="0" smtClean="0"/>
                        <a:t> </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b="0" i="0" kern="1200" dirty="0" smtClean="0">
                          <a:solidFill>
                            <a:schemeClr val="dk1"/>
                          </a:solidFill>
                          <a:latin typeface="+mn-lt"/>
                          <a:ea typeface="+mn-ea"/>
                          <a:cs typeface="+mn-cs"/>
                        </a:rPr>
                        <a:t>Rights granted in the Constitution shall not infringe on other rights.</a:t>
                      </a:r>
                    </a:p>
                    <a:p>
                      <a:endParaRPr lang="en-US" dirty="0"/>
                    </a:p>
                  </a:txBody>
                  <a:tcPr/>
                </a:tc>
              </a:tr>
              <a:tr h="1040209">
                <a:tc>
                  <a:txBody>
                    <a:bodyPr/>
                    <a:lstStyle/>
                    <a:p>
                      <a:r>
                        <a:rPr lang="en-US" dirty="0" smtClean="0"/>
                        <a:t>Tenth </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b="0" i="0" kern="1200" dirty="0" smtClean="0">
                          <a:solidFill>
                            <a:schemeClr val="dk1"/>
                          </a:solidFill>
                          <a:latin typeface="+mn-lt"/>
                          <a:ea typeface="+mn-ea"/>
                          <a:cs typeface="+mn-cs"/>
                        </a:rPr>
                        <a:t>Powers not granted to the Federal Government in the Constitution belong to the states or the people.</a:t>
                      </a:r>
                    </a:p>
                    <a:p>
                      <a:endParaRPr lang="en-US" dirty="0"/>
                    </a:p>
                  </a:txBody>
                  <a:tcPr/>
                </a:tc>
              </a:tr>
            </a:tbl>
          </a:graphicData>
        </a:graphic>
      </p:graphicFrame>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828</TotalTime>
  <Words>2251</Words>
  <Application>Microsoft Office PowerPoint</Application>
  <PresentationFormat>On-screen Show (4:3)</PresentationFormat>
  <Paragraphs>221</Paragraphs>
  <Slides>35</Slides>
  <Notes>0</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Flow</vt:lpstr>
      <vt:lpstr>Origin and Development of Sociology</vt:lpstr>
      <vt:lpstr>Slide 2</vt:lpstr>
      <vt:lpstr>Slide 3</vt:lpstr>
      <vt:lpstr>Slide 4</vt:lpstr>
      <vt:lpstr>Slide 5</vt:lpstr>
      <vt:lpstr>The Enlightenment</vt:lpstr>
      <vt:lpstr>Slide 7</vt:lpstr>
      <vt:lpstr>Major issues </vt:lpstr>
      <vt:lpstr>Major Enlightenment Thinkers Who Influenced Sociology</vt:lpstr>
      <vt:lpstr>John Locke(1632-1704)</vt:lpstr>
      <vt:lpstr>Montesquieu (1689 –1755)</vt:lpstr>
      <vt:lpstr>Voltaire(1694-1778)</vt:lpstr>
      <vt:lpstr>Jacques Rousseau(1712-1778)</vt:lpstr>
      <vt:lpstr>Slide 14</vt:lpstr>
      <vt:lpstr>Auguste Comte(1798-1857)</vt:lpstr>
      <vt:lpstr>Slide 16</vt:lpstr>
      <vt:lpstr>Karl Marx (1818-1883)</vt:lpstr>
      <vt:lpstr>Herbert Spencer(1820-1903)</vt:lpstr>
      <vt:lpstr>Slide 19</vt:lpstr>
      <vt:lpstr>Emile Durkheim(1858-1917)</vt:lpstr>
      <vt:lpstr>Max Weber(1864-1920)</vt:lpstr>
      <vt:lpstr>French Revolution</vt:lpstr>
      <vt:lpstr>Social Cause</vt:lpstr>
      <vt:lpstr>ECONOMIC CAUSES</vt:lpstr>
      <vt:lpstr>POLITICAL CAUSES</vt:lpstr>
      <vt:lpstr>Industrial Revolution</vt:lpstr>
      <vt:lpstr>Slide 27</vt:lpstr>
      <vt:lpstr>Slide 28</vt:lpstr>
      <vt:lpstr>Main Feature of IR</vt:lpstr>
      <vt:lpstr>Background of the Industrial Revolution</vt:lpstr>
      <vt:lpstr>Slide 31</vt:lpstr>
      <vt:lpstr>Bill of Rights</vt:lpstr>
      <vt:lpstr>Bill of Rights </vt:lpstr>
      <vt:lpstr>Slide 34</vt:lpstr>
      <vt:lpstr>Slide 35</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Uder</cp:lastModifiedBy>
  <cp:revision>123</cp:revision>
  <dcterms:created xsi:type="dcterms:W3CDTF">2006-08-16T00:00:00Z</dcterms:created>
  <dcterms:modified xsi:type="dcterms:W3CDTF">2025-07-27T13:47:34Z</dcterms:modified>
</cp:coreProperties>
</file>